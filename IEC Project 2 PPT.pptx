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59" r:id="rId7"/>
    <p:sldId id="260" r:id="rId8"/>
    <p:sldId id="267" r:id="rId9"/>
    <p:sldId id="268" r:id="rId10"/>
    <p:sldId id="279" r:id="rId11"/>
    <p:sldId id="269" r:id="rId12"/>
    <p:sldId id="270" r:id="rId13"/>
    <p:sldId id="274" r:id="rId14"/>
    <p:sldId id="271" r:id="rId15"/>
    <p:sldId id="273" r:id="rId16"/>
    <p:sldId id="272" r:id="rId17"/>
    <p:sldId id="275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20-Mar-26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20-Mar-26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20-Mar-26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20-Mar-26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20-Mar-26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20-Mar-26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20-Mar-26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20-Mar-26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20-Mar-26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20-Mar-26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20-Mar-26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20-Mar-26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vivek468/superstore-dataset-fina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2310" y="4813539"/>
            <a:ext cx="11611155" cy="1595887"/>
          </a:xfrm>
        </p:spPr>
        <p:txBody>
          <a:bodyPr>
            <a:noAutofit/>
          </a:bodyPr>
          <a:lstStyle/>
          <a:p>
            <a:br>
              <a:rPr lang="en-US" sz="4400" dirty="0"/>
            </a:br>
            <a:br>
              <a:rPr lang="en-US" sz="4400" dirty="0"/>
            </a:br>
            <a:br>
              <a:rPr lang="en-US" sz="4400" dirty="0"/>
            </a:br>
            <a:br>
              <a:rPr lang="en-US" sz="4400" dirty="0"/>
            </a:br>
            <a:br>
              <a:rPr lang="en-US" sz="4400" dirty="0"/>
            </a:br>
            <a:br>
              <a:rPr lang="en-US" sz="4000" b="1" dirty="0"/>
            </a:br>
            <a:r>
              <a:rPr lang="en-US" sz="4400" b="1" dirty="0"/>
              <a:t>Retail Sales Performance Analysis Using Python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5D2F3D4D-CC82-D1FD-0CB1-8EB37E3EDB1B}"/>
              </a:ext>
            </a:extLst>
          </p:cNvPr>
          <p:cNvSpPr/>
          <p:nvPr/>
        </p:nvSpPr>
        <p:spPr>
          <a:xfrm>
            <a:off x="4979407" y="-1"/>
            <a:ext cx="7212594" cy="4581053"/>
          </a:xfrm>
          <a:custGeom>
            <a:avLst/>
            <a:gdLst/>
            <a:ahLst/>
            <a:cxnLst/>
            <a:rect l="l" t="t" r="r" b="b"/>
            <a:pathLst>
              <a:path w="5888241" h="3588162">
                <a:moveTo>
                  <a:pt x="0" y="0"/>
                </a:moveTo>
                <a:lnTo>
                  <a:pt x="5888241" y="0"/>
                </a:lnTo>
                <a:lnTo>
                  <a:pt x="5888241" y="3588162"/>
                </a:lnTo>
                <a:lnTo>
                  <a:pt x="0" y="35881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324" b="-7176"/>
            </a:stretch>
          </a:blipFill>
        </p:spPr>
        <p:txBody>
          <a:bodyPr/>
          <a:lstStyle/>
          <a:p>
            <a:endParaRPr lang="en-PK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4AB2C5-A4E7-22BC-771C-789A315903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107" y="-36215"/>
            <a:ext cx="5558828" cy="36253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D2456A3-F372-922A-31C4-39D2DD039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5767" y="3067090"/>
            <a:ext cx="2713546" cy="171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9949" y="2663110"/>
            <a:ext cx="6391746" cy="1460232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US" sz="9600" b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Course TITLE:</a:t>
            </a:r>
            <a:r>
              <a:rPr lang="en-US" sz="9600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 Data Analytics</a:t>
            </a:r>
          </a:p>
          <a:p>
            <a:pPr algn="just"/>
            <a:r>
              <a:rPr lang="en-US" sz="9600" b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Institute:</a:t>
            </a:r>
            <a:r>
              <a:rPr lang="en-US" sz="9600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 IEC</a:t>
            </a:r>
          </a:p>
          <a:p>
            <a:pPr algn="just"/>
            <a:r>
              <a:rPr lang="en-US" sz="9600" b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Project: </a:t>
            </a:r>
            <a:r>
              <a:rPr lang="en-US" sz="9600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Portfolio Project II</a:t>
            </a:r>
          </a:p>
          <a:p>
            <a:pPr algn="just"/>
            <a:r>
              <a:rPr lang="en-US" sz="9600" b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Presented By: </a:t>
            </a:r>
            <a:r>
              <a:rPr lang="en-US" sz="9600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Sarah zafar</a:t>
            </a:r>
          </a:p>
          <a:p>
            <a:pPr algn="just"/>
            <a:r>
              <a:rPr lang="en-US" sz="9600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 </a:t>
            </a:r>
          </a:p>
          <a:p>
            <a:pPr algn="just"/>
            <a:endParaRPr lang="en-US" sz="3300" dirty="0">
              <a:solidFill>
                <a:schemeClr val="tx2">
                  <a:lumMod val="50000"/>
                </a:schemeClr>
              </a:solidFill>
              <a:latin typeface="+mj-lt"/>
            </a:endParaRPr>
          </a:p>
          <a:p>
            <a:pPr algn="just"/>
            <a:endParaRPr lang="en-US" sz="3300" dirty="0">
              <a:solidFill>
                <a:schemeClr val="tx2">
                  <a:lumMod val="50000"/>
                </a:schemeClr>
              </a:solidFill>
              <a:latin typeface="+mj-lt"/>
            </a:endParaRPr>
          </a:p>
          <a:p>
            <a:pPr algn="just"/>
            <a:endParaRPr lang="en-US" sz="3300" dirty="0">
              <a:solidFill>
                <a:schemeClr val="tx2">
                  <a:lumMod val="50000"/>
                </a:schemeClr>
              </a:solidFill>
              <a:latin typeface="+mj-lt"/>
            </a:endParaRPr>
          </a:p>
          <a:p>
            <a:pPr algn="just"/>
            <a:endParaRPr lang="en-US" dirty="0">
              <a:solidFill>
                <a:schemeClr val="tx2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99C4259D-D45B-DBB1-A676-4AB1B3B0EA4A}"/>
              </a:ext>
            </a:extLst>
          </p:cNvPr>
          <p:cNvSpPr/>
          <p:nvPr/>
        </p:nvSpPr>
        <p:spPr>
          <a:xfrm>
            <a:off x="4642073" y="155202"/>
            <a:ext cx="2616613" cy="2046978"/>
          </a:xfrm>
          <a:custGeom>
            <a:avLst/>
            <a:gdLst/>
            <a:ahLst/>
            <a:cxnLst/>
            <a:rect l="l" t="t" r="r" b="b"/>
            <a:pathLst>
              <a:path w="2616613" h="2046978">
                <a:moveTo>
                  <a:pt x="0" y="0"/>
                </a:moveTo>
                <a:lnTo>
                  <a:pt x="2616613" y="0"/>
                </a:lnTo>
                <a:lnTo>
                  <a:pt x="2616613" y="2046979"/>
                </a:lnTo>
                <a:lnTo>
                  <a:pt x="0" y="20469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347F0-B801-0801-9D11-D04DAA5E4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0231" y="226336"/>
            <a:ext cx="3820562" cy="959667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Introduction:</a:t>
            </a:r>
            <a:br>
              <a:rPr lang="en-US" dirty="0">
                <a:solidFill>
                  <a:schemeClr val="tx1"/>
                </a:solidFill>
              </a:rPr>
            </a:br>
            <a:endParaRPr lang="en-PK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7A3DE5-E6F1-7B51-CED5-747E17250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442" y="3983525"/>
            <a:ext cx="4019740" cy="2498756"/>
          </a:xfrm>
        </p:spPr>
        <p:txBody>
          <a:bodyPr>
            <a:noAutofit/>
          </a:bodyPr>
          <a:lstStyle/>
          <a:p>
            <a:pPr algn="just">
              <a:lnSpc>
                <a:spcPts val="3219"/>
              </a:lnSpc>
            </a:pPr>
            <a:r>
              <a:rPr lang="en-US" sz="1200" b="1" dirty="0">
                <a:solidFill>
                  <a:srgbClr val="F4F4F4"/>
                </a:solidFill>
                <a:latin typeface="+mj-lt"/>
                <a:ea typeface="Poppins Bold"/>
                <a:cs typeface="Poppins Bold"/>
                <a:sym typeface="Poppins Bold"/>
              </a:rPr>
              <a:t>Important Columns:</a:t>
            </a:r>
          </a:p>
          <a:p>
            <a:pPr marL="496566" lvl="1" indent="-248283" algn="just">
              <a:lnSpc>
                <a:spcPts val="3219"/>
              </a:lnSpc>
              <a:buFont typeface="Arial"/>
              <a:buChar char="•"/>
            </a:pPr>
            <a:r>
              <a:rPr lang="en-US" sz="1200" dirty="0">
                <a:solidFill>
                  <a:srgbClr val="F4F4F4"/>
                </a:solidFill>
                <a:latin typeface="+mj-lt"/>
                <a:ea typeface="Poppins"/>
                <a:cs typeface="Poppins"/>
                <a:sym typeface="Poppins"/>
              </a:rPr>
              <a:t>Sales</a:t>
            </a:r>
          </a:p>
          <a:p>
            <a:pPr marL="496566" lvl="1" indent="-248283" algn="just">
              <a:lnSpc>
                <a:spcPts val="3219"/>
              </a:lnSpc>
              <a:buFont typeface="Arial"/>
              <a:buChar char="•"/>
            </a:pPr>
            <a:r>
              <a:rPr lang="en-US" sz="1200" dirty="0">
                <a:solidFill>
                  <a:srgbClr val="F4F4F4"/>
                </a:solidFill>
                <a:latin typeface="+mj-lt"/>
                <a:ea typeface="Poppins"/>
                <a:cs typeface="Poppins"/>
                <a:sym typeface="Poppins"/>
              </a:rPr>
              <a:t>Profit</a:t>
            </a:r>
          </a:p>
          <a:p>
            <a:pPr marL="496566" lvl="1" indent="-248283" algn="just">
              <a:lnSpc>
                <a:spcPts val="3219"/>
              </a:lnSpc>
              <a:buFont typeface="Arial"/>
              <a:buChar char="•"/>
            </a:pPr>
            <a:r>
              <a:rPr lang="en-US" sz="1200" dirty="0">
                <a:solidFill>
                  <a:srgbClr val="F4F4F4"/>
                </a:solidFill>
                <a:latin typeface="+mj-lt"/>
                <a:ea typeface="Poppins"/>
                <a:cs typeface="Poppins"/>
                <a:sym typeface="Poppins"/>
              </a:rPr>
              <a:t>Quantity</a:t>
            </a:r>
          </a:p>
          <a:p>
            <a:pPr marL="496566" lvl="1" indent="-248283" algn="just">
              <a:lnSpc>
                <a:spcPts val="3219"/>
              </a:lnSpc>
              <a:buFont typeface="Arial"/>
              <a:buChar char="•"/>
            </a:pPr>
            <a:r>
              <a:rPr lang="en-US" sz="1200" dirty="0">
                <a:solidFill>
                  <a:srgbClr val="F4F4F4"/>
                </a:solidFill>
                <a:latin typeface="+mj-lt"/>
                <a:ea typeface="Poppins"/>
                <a:cs typeface="Poppins"/>
                <a:sym typeface="Poppins"/>
              </a:rPr>
              <a:t>Discount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endParaRPr lang="en-US" sz="1200" dirty="0">
              <a:solidFill>
                <a:srgbClr val="F4F4F4"/>
              </a:solidFill>
              <a:latin typeface="+mj-lt"/>
              <a:ea typeface="Poppins"/>
              <a:cs typeface="Poppins"/>
              <a:sym typeface="Poppins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tx1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+mj-lt"/>
            </a:endParaRPr>
          </a:p>
          <a:p>
            <a:endParaRPr lang="en-PK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BABE7D-724E-56A4-E750-096AE0E034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30024" y="805759"/>
            <a:ext cx="6912321" cy="2960483"/>
          </a:xfrm>
        </p:spPr>
        <p:txBody>
          <a:bodyPr>
            <a:normAutofit fontScale="70000" lnSpcReduction="20000"/>
          </a:bodyPr>
          <a:lstStyle/>
          <a:p>
            <a:pPr marL="496566" lvl="1" indent="-248283" algn="just">
              <a:lnSpc>
                <a:spcPts val="3219"/>
              </a:lnSpc>
              <a:buFont typeface="Arial"/>
              <a:buChar char="•"/>
            </a:pPr>
            <a:r>
              <a:rPr lang="en-US" sz="2299" dirty="0">
                <a:solidFill>
                  <a:schemeClr val="tx1"/>
                </a:solidFill>
                <a:latin typeface="+mj-lt"/>
                <a:ea typeface="Poppins"/>
                <a:cs typeface="Poppins"/>
                <a:sym typeface="Poppins"/>
              </a:rPr>
              <a:t>Businesses collect large amounts of sales data.</a:t>
            </a:r>
          </a:p>
          <a:p>
            <a:pPr marL="496566" lvl="1" indent="-248283" algn="just">
              <a:lnSpc>
                <a:spcPts val="3219"/>
              </a:lnSpc>
              <a:buFont typeface="Arial"/>
              <a:buChar char="•"/>
            </a:pPr>
            <a:r>
              <a:rPr lang="en-US" sz="2299" dirty="0">
                <a:solidFill>
                  <a:schemeClr val="tx1"/>
                </a:solidFill>
                <a:latin typeface="+mj-lt"/>
                <a:ea typeface="Poppins"/>
                <a:cs typeface="Poppins"/>
                <a:sym typeface="Poppins"/>
              </a:rPr>
              <a:t>Analyzing this data helps companies understand performance and improve decision making.</a:t>
            </a:r>
          </a:p>
          <a:p>
            <a:pPr marL="496566" lvl="1" indent="-248283" algn="just">
              <a:lnSpc>
                <a:spcPts val="3219"/>
              </a:lnSpc>
              <a:buFont typeface="Arial"/>
              <a:buChar char="•"/>
            </a:pPr>
            <a:r>
              <a:rPr lang="en-US" sz="2299" dirty="0">
                <a:solidFill>
                  <a:schemeClr val="tx1"/>
                </a:solidFill>
                <a:latin typeface="+mj-lt"/>
                <a:ea typeface="Poppins"/>
                <a:cs typeface="Poppins"/>
                <a:sym typeface="Poppins"/>
              </a:rPr>
              <a:t>This project analyzes the Superstore dataset to identify sales patterns, profit trends, and business insights.</a:t>
            </a:r>
          </a:p>
          <a:p>
            <a:pPr marL="496566" lvl="1" indent="-248283" algn="just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dirty="0">
                <a:solidFill>
                  <a:schemeClr val="tx1"/>
                </a:solidFill>
                <a:latin typeface="+mj-lt"/>
                <a:ea typeface="Poppins"/>
                <a:cs typeface="Poppins"/>
                <a:sym typeface="Poppins"/>
              </a:rPr>
              <a:t>Machine learning techniques are also applied to predict profit.</a:t>
            </a:r>
          </a:p>
        </p:txBody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376EBD59-6C73-1915-76F9-39ACC9AB13FA}"/>
              </a:ext>
            </a:extLst>
          </p:cNvPr>
          <p:cNvSpPr/>
          <p:nvPr/>
        </p:nvSpPr>
        <p:spPr>
          <a:xfrm>
            <a:off x="5038614" y="3720241"/>
            <a:ext cx="6730891" cy="2762040"/>
          </a:xfrm>
          <a:custGeom>
            <a:avLst/>
            <a:gdLst/>
            <a:ahLst/>
            <a:cxnLst/>
            <a:rect l="l" t="t" r="r" b="b"/>
            <a:pathLst>
              <a:path w="11417049" h="4447546">
                <a:moveTo>
                  <a:pt x="0" y="0"/>
                </a:moveTo>
                <a:lnTo>
                  <a:pt x="11417049" y="0"/>
                </a:lnTo>
                <a:lnTo>
                  <a:pt x="11417049" y="4447546"/>
                </a:lnTo>
                <a:lnTo>
                  <a:pt x="0" y="4447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97" r="-73471"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24DB0E-0597-A4B7-EC4B-ED8AFF262E37}"/>
              </a:ext>
            </a:extLst>
          </p:cNvPr>
          <p:cNvSpPr txBox="1"/>
          <p:nvPr/>
        </p:nvSpPr>
        <p:spPr>
          <a:xfrm>
            <a:off x="262550" y="160696"/>
            <a:ext cx="4209861" cy="5498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50"/>
              </a:lnSpc>
              <a:spcBef>
                <a:spcPct val="0"/>
              </a:spcBef>
            </a:pPr>
            <a:r>
              <a:rPr lang="en-US" sz="2400" b="1" spc="-118" dirty="0">
                <a:solidFill>
                  <a:srgbClr val="F4F4F4"/>
                </a:solidFill>
                <a:latin typeface="+mj-lt"/>
                <a:ea typeface="Poppins Bold"/>
                <a:cs typeface="Poppins Bold"/>
                <a:sym typeface="Poppins Bold"/>
              </a:rPr>
              <a:t>Dataset Description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0167DB7-F4BF-8D8E-5181-ADA31CA29845}"/>
              </a:ext>
            </a:extLst>
          </p:cNvPr>
          <p:cNvSpPr txBox="1">
            <a:spLocks/>
          </p:cNvSpPr>
          <p:nvPr/>
        </p:nvSpPr>
        <p:spPr>
          <a:xfrm>
            <a:off x="2388519" y="2306157"/>
            <a:ext cx="2471598" cy="1475715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6566" lvl="1" indent="-248283">
              <a:lnSpc>
                <a:spcPts val="3219"/>
              </a:lnSpc>
              <a:buFont typeface="Arial"/>
              <a:buChar char="•"/>
            </a:pPr>
            <a:r>
              <a:rPr lang="en-US" sz="1200" dirty="0">
                <a:solidFill>
                  <a:srgbClr val="F4F4F4"/>
                </a:solidFill>
                <a:latin typeface="+mj-lt"/>
                <a:ea typeface="Poppins"/>
                <a:cs typeface="Poppins"/>
                <a:sym typeface="Poppins"/>
              </a:rPr>
              <a:t>Sales</a:t>
            </a:r>
          </a:p>
          <a:p>
            <a:pPr marL="496566" lvl="1" indent="-248283">
              <a:lnSpc>
                <a:spcPts val="3219"/>
              </a:lnSpc>
              <a:buFont typeface="Arial"/>
              <a:buChar char="•"/>
            </a:pPr>
            <a:r>
              <a:rPr lang="en-US" sz="1200" dirty="0">
                <a:solidFill>
                  <a:srgbClr val="F4F4F4"/>
                </a:solidFill>
                <a:latin typeface="+mj-lt"/>
                <a:ea typeface="Poppins"/>
                <a:cs typeface="Poppins"/>
                <a:sym typeface="Poppins"/>
              </a:rPr>
              <a:t>Profit</a:t>
            </a:r>
          </a:p>
          <a:p>
            <a:pPr marL="496566" lvl="1" indent="-248283">
              <a:lnSpc>
                <a:spcPts val="3219"/>
              </a:lnSpc>
              <a:spcBef>
                <a:spcPct val="0"/>
              </a:spcBef>
              <a:buFont typeface="Arial"/>
              <a:buChar char="•"/>
            </a:pPr>
            <a:r>
              <a:rPr lang="en-US" sz="1200" dirty="0">
                <a:solidFill>
                  <a:srgbClr val="F4F4F4"/>
                </a:solidFill>
                <a:latin typeface="+mj-lt"/>
                <a:ea typeface="Poppins"/>
                <a:cs typeface="Poppins"/>
                <a:sym typeface="Poppins"/>
              </a:rPr>
              <a:t>Discounts</a:t>
            </a:r>
            <a:endParaRPr lang="en-US" sz="1200" dirty="0">
              <a:solidFill>
                <a:schemeClr val="tx1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tx1"/>
              </a:solidFill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+mj-lt"/>
            </a:endParaRPr>
          </a:p>
          <a:p>
            <a:endParaRPr lang="en-PK" sz="12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6039CD2-02CF-FACF-06B6-941C178F81CB}"/>
              </a:ext>
            </a:extLst>
          </p:cNvPr>
          <p:cNvSpPr txBox="1">
            <a:spLocks/>
          </p:cNvSpPr>
          <p:nvPr/>
        </p:nvSpPr>
        <p:spPr>
          <a:xfrm>
            <a:off x="237721" y="737203"/>
            <a:ext cx="4332997" cy="1526334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400" b="1" dirty="0">
                <a:solidFill>
                  <a:schemeClr val="bg1"/>
                </a:solidFill>
                <a:latin typeface="+mj-lt"/>
                <a:ea typeface="Poppins Bold"/>
                <a:cs typeface="Poppins Bold"/>
                <a:sym typeface="Poppins Bold"/>
              </a:rPr>
              <a:t>Dataset: Sample Superstore Sales Dataset</a:t>
            </a:r>
          </a:p>
          <a:p>
            <a:pPr algn="just">
              <a:lnSpc>
                <a:spcPct val="150000"/>
              </a:lnSpc>
            </a:pPr>
            <a:r>
              <a:rPr lang="en-US" sz="1200" b="1" dirty="0">
                <a:solidFill>
                  <a:schemeClr val="bg1"/>
                </a:solidFill>
                <a:latin typeface="+mj-lt"/>
                <a:ea typeface="Poppins Bold"/>
                <a:cs typeface="Poppins Bold"/>
                <a:sym typeface="Poppins Bold"/>
              </a:rPr>
              <a:t>Kaggle Link: </a:t>
            </a:r>
          </a:p>
          <a:p>
            <a:pPr algn="just">
              <a:lnSpc>
                <a:spcPct val="150000"/>
              </a:lnSpc>
            </a:pPr>
            <a:r>
              <a:rPr lang="en-US" sz="12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hlinkClick r:id="rId3"/>
              </a:rPr>
              <a:t>https://www.kaggle.com/datasets/vivek468/superstore-dataset-final</a:t>
            </a:r>
            <a:r>
              <a:rPr lang="en-US" sz="12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</a:t>
            </a:r>
            <a:endParaRPr lang="en-US" sz="1200" b="1" dirty="0">
              <a:solidFill>
                <a:schemeClr val="bg1"/>
              </a:solidFill>
              <a:latin typeface="+mj-lt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3219"/>
              </a:lnSpc>
            </a:pPr>
            <a:r>
              <a:rPr lang="en-US" sz="1200" dirty="0">
                <a:solidFill>
                  <a:schemeClr val="bg1"/>
                </a:solidFill>
                <a:latin typeface="+mj-lt"/>
                <a:ea typeface="Poppins"/>
                <a:cs typeface="Poppins"/>
                <a:sym typeface="Poppins"/>
              </a:rPr>
              <a:t>Contains information about:</a:t>
            </a:r>
          </a:p>
          <a:p>
            <a:pPr marL="496566" lvl="1" indent="-248283">
              <a:lnSpc>
                <a:spcPts val="3219"/>
              </a:lnSpc>
              <a:buFont typeface="Arial"/>
              <a:buChar char="•"/>
            </a:pPr>
            <a:r>
              <a:rPr lang="en-US" sz="1200" dirty="0">
                <a:solidFill>
                  <a:schemeClr val="bg1"/>
                </a:solidFill>
                <a:latin typeface="+mj-lt"/>
                <a:ea typeface="Poppins"/>
                <a:cs typeface="Poppins"/>
                <a:sym typeface="Poppins"/>
              </a:rPr>
              <a:t>Orders</a:t>
            </a:r>
          </a:p>
          <a:p>
            <a:pPr marL="496566" lvl="1" indent="-248283">
              <a:lnSpc>
                <a:spcPts val="3219"/>
              </a:lnSpc>
              <a:buFont typeface="Arial"/>
              <a:buChar char="•"/>
            </a:pPr>
            <a:r>
              <a:rPr lang="en-US" sz="1200" dirty="0">
                <a:solidFill>
                  <a:schemeClr val="bg1"/>
                </a:solidFill>
                <a:latin typeface="+mj-lt"/>
                <a:ea typeface="Poppins"/>
                <a:cs typeface="Poppins"/>
                <a:sym typeface="Poppins"/>
              </a:rPr>
              <a:t>Customers</a:t>
            </a:r>
          </a:p>
          <a:p>
            <a:pPr marL="496566" lvl="1" indent="-248283">
              <a:lnSpc>
                <a:spcPts val="3219"/>
              </a:lnSpc>
              <a:buFont typeface="Arial"/>
              <a:buChar char="•"/>
            </a:pPr>
            <a:r>
              <a:rPr lang="en-US" sz="1200" dirty="0">
                <a:solidFill>
                  <a:schemeClr val="bg1"/>
                </a:solidFill>
                <a:latin typeface="+mj-lt"/>
                <a:ea typeface="Poppins"/>
                <a:cs typeface="Poppins"/>
                <a:sym typeface="Poppins"/>
              </a:rPr>
              <a:t>Products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1200" dirty="0">
              <a:solidFill>
                <a:schemeClr val="bg1"/>
              </a:solidFill>
              <a:latin typeface="+mj-lt"/>
            </a:endParaRPr>
          </a:p>
          <a:p>
            <a:pPr marL="0" indent="0">
              <a:buNone/>
            </a:pPr>
            <a:endParaRPr lang="en-US" sz="1200" dirty="0">
              <a:solidFill>
                <a:schemeClr val="bg1"/>
              </a:solidFill>
              <a:latin typeface="+mj-lt"/>
            </a:endParaRPr>
          </a:p>
          <a:p>
            <a:endParaRPr lang="en-PK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8EB39976-69E3-59B5-05EC-D4752157EEDE}"/>
              </a:ext>
            </a:extLst>
          </p:cNvPr>
          <p:cNvSpPr txBox="1">
            <a:spLocks/>
          </p:cNvSpPr>
          <p:nvPr/>
        </p:nvSpPr>
        <p:spPr>
          <a:xfrm>
            <a:off x="2441415" y="4481464"/>
            <a:ext cx="2471598" cy="2190939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96566" lvl="1" indent="-248283" algn="just">
              <a:lnSpc>
                <a:spcPts val="3219"/>
              </a:lnSpc>
              <a:buFont typeface="Arial"/>
              <a:buChar char="•"/>
            </a:pPr>
            <a:r>
              <a:rPr lang="en-US" sz="1200" dirty="0">
                <a:solidFill>
                  <a:srgbClr val="F4F4F4"/>
                </a:solidFill>
                <a:latin typeface="+mj-lt"/>
                <a:ea typeface="Poppins"/>
                <a:cs typeface="Poppins"/>
                <a:sym typeface="Poppins"/>
              </a:rPr>
              <a:t>Category</a:t>
            </a:r>
          </a:p>
          <a:p>
            <a:pPr marL="496566" lvl="1" indent="-248283" algn="just">
              <a:lnSpc>
                <a:spcPts val="3219"/>
              </a:lnSpc>
              <a:buFont typeface="Arial"/>
              <a:buChar char="•"/>
            </a:pPr>
            <a:r>
              <a:rPr lang="en-US" sz="1200" dirty="0">
                <a:solidFill>
                  <a:srgbClr val="F4F4F4"/>
                </a:solidFill>
                <a:latin typeface="+mj-lt"/>
                <a:ea typeface="Poppins"/>
                <a:cs typeface="Poppins"/>
                <a:sym typeface="Poppins"/>
              </a:rPr>
              <a:t>Region</a:t>
            </a:r>
          </a:p>
          <a:p>
            <a:pPr marL="496566" lvl="1" indent="-248283" algn="just">
              <a:lnSpc>
                <a:spcPts val="3219"/>
              </a:lnSpc>
              <a:buFont typeface="Arial"/>
              <a:buChar char="•"/>
            </a:pPr>
            <a:r>
              <a:rPr lang="en-US" sz="1200" dirty="0">
                <a:solidFill>
                  <a:srgbClr val="F4F4F4"/>
                </a:solidFill>
                <a:latin typeface="+mj-lt"/>
                <a:ea typeface="Poppins"/>
                <a:cs typeface="Poppins"/>
                <a:sym typeface="Poppins"/>
              </a:rPr>
              <a:t>Order Date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1200" dirty="0">
                <a:solidFill>
                  <a:srgbClr val="F4F4F4"/>
                </a:solidFill>
                <a:latin typeface="+mj-lt"/>
                <a:ea typeface="Poppins"/>
                <a:cs typeface="Poppins"/>
                <a:sym typeface="Poppins"/>
              </a:rPr>
              <a:t>Total Columns: 21</a:t>
            </a:r>
          </a:p>
          <a:p>
            <a:endParaRPr lang="en-PK" sz="12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78805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96581842-AD21-25A1-618F-4695BC20EAE5}"/>
              </a:ext>
            </a:extLst>
          </p:cNvPr>
          <p:cNvSpPr txBox="1">
            <a:spLocks/>
          </p:cNvSpPr>
          <p:nvPr/>
        </p:nvSpPr>
        <p:spPr>
          <a:xfrm>
            <a:off x="215660" y="319177"/>
            <a:ext cx="11906930" cy="6063516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1800" b="1" spc="-126" dirty="0">
                <a:solidFill>
                  <a:schemeClr val="tx1"/>
                </a:solidFill>
                <a:latin typeface="+mj-lt"/>
                <a:ea typeface="Poppins Bold"/>
                <a:cs typeface="Poppins Bold"/>
                <a:sym typeface="Poppins Bold"/>
              </a:rPr>
              <a:t>Tools &amp; Technologies</a:t>
            </a:r>
          </a:p>
          <a:p>
            <a:pPr marL="0" indent="0">
              <a:lnSpc>
                <a:spcPts val="3219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Poppins Bold"/>
                <a:cs typeface="Poppins Bold"/>
                <a:sym typeface="Poppins Bold"/>
              </a:rPr>
              <a:t>Tools Used:</a:t>
            </a:r>
          </a:p>
          <a:p>
            <a:pPr marL="0" indent="0">
              <a:buNone/>
            </a:pPr>
            <a:endParaRPr lang="en-US" sz="1600" dirty="0">
              <a:solidFill>
                <a:schemeClr val="tx1"/>
              </a:solidFill>
              <a:latin typeface="+mj-lt"/>
            </a:endParaRPr>
          </a:p>
          <a:p>
            <a:endParaRPr lang="en-PK" sz="1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3FC5B4D7-179C-E257-1067-2C26F1AC9EDF}"/>
              </a:ext>
            </a:extLst>
          </p:cNvPr>
          <p:cNvSpPr txBox="1"/>
          <p:nvPr/>
        </p:nvSpPr>
        <p:spPr>
          <a:xfrm>
            <a:off x="3712301" y="1481553"/>
            <a:ext cx="2959310" cy="1599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1600" b="1" dirty="0">
                <a:latin typeface="+mj-lt"/>
                <a:ea typeface="Poppins Bold"/>
                <a:cs typeface="Poppins Bold"/>
                <a:sym typeface="Poppins Bold"/>
              </a:rPr>
              <a:t>Environment:</a:t>
            </a:r>
          </a:p>
          <a:p>
            <a:pPr marL="496571" lvl="1" indent="-248285" algn="just">
              <a:lnSpc>
                <a:spcPts val="3220"/>
              </a:lnSpc>
              <a:buFont typeface="Arial"/>
              <a:buChar char="•"/>
            </a:pPr>
            <a:r>
              <a:rPr lang="en-US" sz="1600" dirty="0">
                <a:latin typeface="+mj-lt"/>
                <a:ea typeface="Poppins"/>
                <a:cs typeface="Poppins"/>
                <a:sym typeface="Poppins"/>
              </a:rPr>
              <a:t>Google Colab</a:t>
            </a:r>
          </a:p>
          <a:p>
            <a:pPr algn="just">
              <a:lnSpc>
                <a:spcPts val="3051"/>
              </a:lnSpc>
            </a:pPr>
            <a:endParaRPr lang="en-US" sz="1600" dirty="0">
              <a:latin typeface="+mj-lt"/>
              <a:ea typeface="Poppins"/>
              <a:cs typeface="Poppins"/>
              <a:sym typeface="Poppins"/>
            </a:endParaRPr>
          </a:p>
          <a:p>
            <a:pPr algn="just">
              <a:lnSpc>
                <a:spcPts val="3051"/>
              </a:lnSpc>
              <a:spcBef>
                <a:spcPct val="0"/>
              </a:spcBef>
            </a:pPr>
            <a:endParaRPr lang="en-US" sz="1600" dirty="0">
              <a:latin typeface="+mj-lt"/>
              <a:ea typeface="Poppins"/>
              <a:cs typeface="Poppins"/>
              <a:sym typeface="Poppins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DE9CADA7-E7AB-CC11-8717-B61F705D2B24}"/>
              </a:ext>
            </a:extLst>
          </p:cNvPr>
          <p:cNvSpPr txBox="1"/>
          <p:nvPr/>
        </p:nvSpPr>
        <p:spPr>
          <a:xfrm>
            <a:off x="462107" y="1490608"/>
            <a:ext cx="2959310" cy="1599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19"/>
              </a:lnSpc>
            </a:pPr>
            <a:r>
              <a:rPr lang="en-US" sz="1600" b="1" dirty="0">
                <a:latin typeface="+mj-lt"/>
                <a:ea typeface="Poppins Bold"/>
                <a:cs typeface="Poppins Bold"/>
                <a:sym typeface="Poppins Bold"/>
              </a:rPr>
              <a:t>Programming Language: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1600" dirty="0">
                <a:latin typeface="+mj-lt"/>
                <a:ea typeface="Poppins"/>
                <a:cs typeface="Poppins"/>
                <a:sym typeface="Poppins"/>
              </a:rPr>
              <a:t>Python</a:t>
            </a:r>
          </a:p>
          <a:p>
            <a:pPr algn="just">
              <a:lnSpc>
                <a:spcPts val="3051"/>
              </a:lnSpc>
            </a:pPr>
            <a:endParaRPr lang="en-US" sz="2300" dirty="0"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3051"/>
              </a:lnSpc>
              <a:spcBef>
                <a:spcPct val="0"/>
              </a:spcBef>
            </a:pPr>
            <a:endParaRPr lang="en-US" sz="2300" dirty="0">
              <a:solidFill>
                <a:srgbClr val="F4F4F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104E42-8116-90B3-8C78-452F7A3755A1}"/>
              </a:ext>
            </a:extLst>
          </p:cNvPr>
          <p:cNvSpPr txBox="1"/>
          <p:nvPr/>
        </p:nvSpPr>
        <p:spPr>
          <a:xfrm>
            <a:off x="99589" y="2984763"/>
            <a:ext cx="4273236" cy="253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ts val="3219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+mj-lt"/>
                <a:ea typeface="Poppins Bold"/>
                <a:cs typeface="Poppins Bold"/>
                <a:sym typeface="Poppins Bold"/>
              </a:rPr>
              <a:t>Libraries Used: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1600" dirty="0">
                <a:latin typeface="+mj-lt"/>
                <a:ea typeface="Poppins"/>
                <a:cs typeface="Poppins"/>
                <a:sym typeface="Poppins"/>
              </a:rPr>
              <a:t>Pandas (data analysis)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1600" dirty="0">
                <a:latin typeface="+mj-lt"/>
                <a:ea typeface="Poppins"/>
                <a:cs typeface="Poppins"/>
                <a:sym typeface="Poppins"/>
              </a:rPr>
              <a:t>NumPy (numerical operations)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1600" dirty="0">
                <a:latin typeface="+mj-lt"/>
                <a:ea typeface="Poppins"/>
                <a:cs typeface="Poppins"/>
                <a:sym typeface="Poppins"/>
              </a:rPr>
              <a:t>Matplotlib (visualization)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1600" dirty="0">
                <a:latin typeface="+mj-lt"/>
                <a:ea typeface="Poppins"/>
                <a:cs typeface="Poppins"/>
                <a:sym typeface="Poppins"/>
              </a:rPr>
              <a:t>Seaborn (data visualization)</a:t>
            </a:r>
          </a:p>
          <a:p>
            <a:pPr marL="496569" lvl="1" indent="-248284" algn="just">
              <a:lnSpc>
                <a:spcPts val="3219"/>
              </a:lnSpc>
              <a:buFont typeface="Arial"/>
              <a:buChar char="•"/>
            </a:pPr>
            <a:r>
              <a:rPr lang="en-US" sz="1600" dirty="0">
                <a:latin typeface="+mj-lt"/>
                <a:ea typeface="Poppins"/>
                <a:cs typeface="Poppins"/>
                <a:sym typeface="Poppins"/>
              </a:rPr>
              <a:t>Scikit-learn (machine learning)</a:t>
            </a:r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67DB1EC1-A534-2B44-D047-A61B13EE202B}"/>
              </a:ext>
            </a:extLst>
          </p:cNvPr>
          <p:cNvSpPr/>
          <p:nvPr/>
        </p:nvSpPr>
        <p:spPr>
          <a:xfrm>
            <a:off x="6717673" y="126748"/>
            <a:ext cx="2598343" cy="3241141"/>
          </a:xfrm>
          <a:custGeom>
            <a:avLst/>
            <a:gdLst/>
            <a:ahLst/>
            <a:cxnLst/>
            <a:rect l="l" t="t" r="r" b="b"/>
            <a:pathLst>
              <a:path w="4603661" h="5869000">
                <a:moveTo>
                  <a:pt x="0" y="0"/>
                </a:moveTo>
                <a:lnTo>
                  <a:pt x="4603661" y="0"/>
                </a:lnTo>
                <a:lnTo>
                  <a:pt x="4603661" y="5869000"/>
                </a:lnTo>
                <a:lnTo>
                  <a:pt x="0" y="586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00" t="-4" b="-4"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BF6D749C-CB10-FB63-A7FA-BB4ECA38AC4B}"/>
              </a:ext>
            </a:extLst>
          </p:cNvPr>
          <p:cNvSpPr/>
          <p:nvPr/>
        </p:nvSpPr>
        <p:spPr>
          <a:xfrm>
            <a:off x="4055952" y="3441940"/>
            <a:ext cx="8030424" cy="2696310"/>
          </a:xfrm>
          <a:custGeom>
            <a:avLst/>
            <a:gdLst/>
            <a:ahLst/>
            <a:cxnLst/>
            <a:rect l="l" t="t" r="r" b="b"/>
            <a:pathLst>
              <a:path w="18940502" h="5449472">
                <a:moveTo>
                  <a:pt x="0" y="0"/>
                </a:moveTo>
                <a:lnTo>
                  <a:pt x="18940502" y="0"/>
                </a:lnTo>
                <a:lnTo>
                  <a:pt x="18940502" y="5449472"/>
                </a:lnTo>
                <a:lnTo>
                  <a:pt x="0" y="54494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393" b="-5393"/>
            </a:stretch>
          </a:blipFill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95564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1A064-29D5-521E-7F00-77D3FF1F0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A87F3751-A32C-D442-E08C-B6421C6D0C5B}"/>
              </a:ext>
            </a:extLst>
          </p:cNvPr>
          <p:cNvSpPr txBox="1">
            <a:spLocks/>
          </p:cNvSpPr>
          <p:nvPr/>
        </p:nvSpPr>
        <p:spPr>
          <a:xfrm>
            <a:off x="431320" y="655608"/>
            <a:ext cx="11691269" cy="5727084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2000" b="1" spc="-126" dirty="0">
                <a:solidFill>
                  <a:schemeClr val="tx1"/>
                </a:solidFill>
                <a:latin typeface="+mj-lt"/>
                <a:ea typeface="Poppins Bold"/>
                <a:cs typeface="Poppins Bold"/>
                <a:sym typeface="Poppins Bold"/>
              </a:rPr>
              <a:t>Data Analysis Process</a:t>
            </a:r>
          </a:p>
          <a:p>
            <a:pPr marL="0" indent="0">
              <a:lnSpc>
                <a:spcPts val="3219"/>
              </a:lnSpc>
              <a:buNone/>
            </a:pPr>
            <a:r>
              <a:rPr lang="en-US" sz="1600" b="1" dirty="0">
                <a:solidFill>
                  <a:schemeClr val="tx1"/>
                </a:solidFill>
                <a:latin typeface="+mj-lt"/>
                <a:ea typeface="Poppins Bold"/>
                <a:cs typeface="Poppins Bold"/>
                <a:sym typeface="Poppins Bold"/>
              </a:rPr>
              <a:t>Methodology</a:t>
            </a:r>
            <a:endParaRPr lang="en-US" sz="1600" dirty="0">
              <a:solidFill>
                <a:schemeClr val="tx1"/>
              </a:solidFill>
              <a:latin typeface="+mj-lt"/>
            </a:endParaRPr>
          </a:p>
          <a:p>
            <a:endParaRPr lang="en-PK" sz="1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60A3EC-29FE-3B92-16F0-08BBF87DF042}"/>
              </a:ext>
            </a:extLst>
          </p:cNvPr>
          <p:cNvSpPr txBox="1"/>
          <p:nvPr/>
        </p:nvSpPr>
        <p:spPr>
          <a:xfrm>
            <a:off x="526211" y="2053878"/>
            <a:ext cx="4178601" cy="352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ts val="3361"/>
              </a:lnSpc>
            </a:pPr>
            <a:r>
              <a:rPr lang="en-US" sz="1600" b="1" dirty="0">
                <a:latin typeface="+mj-lt"/>
                <a:ea typeface="Poppins Bold"/>
                <a:cs typeface="Poppins Bold"/>
                <a:sym typeface="Poppins Bold"/>
              </a:rPr>
              <a:t>Steps followed in the project:</a:t>
            </a:r>
          </a:p>
          <a:p>
            <a:pPr marL="518387" lvl="1" indent="-259193" algn="just">
              <a:lnSpc>
                <a:spcPts val="3361"/>
              </a:lnSpc>
              <a:buAutoNum type="arabicPeriod"/>
            </a:pPr>
            <a:r>
              <a:rPr lang="en-US" sz="1600" dirty="0">
                <a:latin typeface="+mj-lt"/>
                <a:ea typeface="Poppins"/>
                <a:cs typeface="Poppins"/>
                <a:sym typeface="Poppins"/>
              </a:rPr>
              <a:t>Data loading</a:t>
            </a:r>
          </a:p>
          <a:p>
            <a:pPr marL="518387" lvl="1" indent="-259193" algn="just">
              <a:lnSpc>
                <a:spcPts val="3361"/>
              </a:lnSpc>
              <a:buAutoNum type="arabicPeriod"/>
            </a:pPr>
            <a:r>
              <a:rPr lang="en-US" sz="1600" dirty="0">
                <a:latin typeface="+mj-lt"/>
                <a:ea typeface="Poppins"/>
                <a:cs typeface="Poppins"/>
                <a:sym typeface="Poppins"/>
              </a:rPr>
              <a:t>Data cleaning</a:t>
            </a:r>
          </a:p>
          <a:p>
            <a:pPr marL="518387" lvl="1" indent="-259193" algn="just">
              <a:lnSpc>
                <a:spcPts val="3361"/>
              </a:lnSpc>
              <a:buAutoNum type="arabicPeriod"/>
            </a:pPr>
            <a:r>
              <a:rPr lang="en-US" sz="1600" dirty="0">
                <a:latin typeface="+mj-lt"/>
                <a:ea typeface="Poppins"/>
                <a:cs typeface="Poppins"/>
                <a:sym typeface="Poppins"/>
              </a:rPr>
              <a:t>Exploratory data analysis (EDA)</a:t>
            </a:r>
          </a:p>
          <a:p>
            <a:pPr marL="518387" lvl="1" indent="-259193" algn="just">
              <a:lnSpc>
                <a:spcPts val="3361"/>
              </a:lnSpc>
              <a:buAutoNum type="arabicPeriod"/>
            </a:pPr>
            <a:r>
              <a:rPr lang="en-US" sz="1600" dirty="0">
                <a:latin typeface="+mj-lt"/>
                <a:ea typeface="Poppins"/>
                <a:cs typeface="Poppins"/>
                <a:sym typeface="Poppins"/>
              </a:rPr>
              <a:t>Data visualization</a:t>
            </a:r>
          </a:p>
          <a:p>
            <a:pPr marL="518387" lvl="1" indent="-259193" algn="just">
              <a:lnSpc>
                <a:spcPts val="3361"/>
              </a:lnSpc>
              <a:buAutoNum type="arabicPeriod"/>
            </a:pPr>
            <a:r>
              <a:rPr lang="en-US" sz="1600" dirty="0">
                <a:latin typeface="+mj-lt"/>
                <a:ea typeface="Poppins"/>
                <a:cs typeface="Poppins"/>
                <a:sym typeface="Poppins"/>
              </a:rPr>
              <a:t>Feature selection</a:t>
            </a:r>
          </a:p>
          <a:p>
            <a:pPr marL="518387" lvl="1" indent="-259193" algn="just">
              <a:lnSpc>
                <a:spcPts val="3361"/>
              </a:lnSpc>
              <a:buAutoNum type="arabicPeriod"/>
            </a:pPr>
            <a:r>
              <a:rPr lang="en-US" sz="1600" dirty="0">
                <a:latin typeface="+mj-lt"/>
                <a:ea typeface="Poppins"/>
                <a:cs typeface="Poppins"/>
                <a:sym typeface="Poppins"/>
              </a:rPr>
              <a:t>Machine learning model training</a:t>
            </a:r>
          </a:p>
          <a:p>
            <a:pPr marL="518387" lvl="1" indent="-259193" algn="just">
              <a:lnSpc>
                <a:spcPts val="3361"/>
              </a:lnSpc>
              <a:buAutoNum type="arabicPeriod"/>
            </a:pPr>
            <a:r>
              <a:rPr lang="en-US" sz="1600" dirty="0">
                <a:latin typeface="+mj-lt"/>
                <a:ea typeface="Poppins"/>
                <a:cs typeface="Poppins"/>
                <a:sym typeface="Poppins"/>
              </a:rPr>
              <a:t>Model evaluation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78B26524-21A9-12B9-010B-C5F798893EF7}"/>
              </a:ext>
            </a:extLst>
          </p:cNvPr>
          <p:cNvGrpSpPr/>
          <p:nvPr/>
        </p:nvGrpSpPr>
        <p:grpSpPr>
          <a:xfrm>
            <a:off x="4988457" y="1883122"/>
            <a:ext cx="5115209" cy="4327555"/>
            <a:chOff x="0" y="0"/>
            <a:chExt cx="1483160" cy="1274980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1B102E6E-0C48-0AE2-6301-AE20B654F09A}"/>
                </a:ext>
              </a:extLst>
            </p:cNvPr>
            <p:cNvSpPr/>
            <p:nvPr/>
          </p:nvSpPr>
          <p:spPr>
            <a:xfrm>
              <a:off x="0" y="0"/>
              <a:ext cx="1483160" cy="1274980"/>
            </a:xfrm>
            <a:custGeom>
              <a:avLst/>
              <a:gdLst/>
              <a:ahLst/>
              <a:cxnLst/>
              <a:rect l="l" t="t" r="r" b="b"/>
              <a:pathLst>
                <a:path w="1483160" h="1274980">
                  <a:moveTo>
                    <a:pt x="59549" y="0"/>
                  </a:moveTo>
                  <a:lnTo>
                    <a:pt x="1423611" y="0"/>
                  </a:lnTo>
                  <a:cubicBezTo>
                    <a:pt x="1456499" y="0"/>
                    <a:pt x="1483160" y="26661"/>
                    <a:pt x="1483160" y="59549"/>
                  </a:cubicBezTo>
                  <a:lnTo>
                    <a:pt x="1483160" y="1215432"/>
                  </a:lnTo>
                  <a:cubicBezTo>
                    <a:pt x="1483160" y="1231225"/>
                    <a:pt x="1476886" y="1246372"/>
                    <a:pt x="1465719" y="1257539"/>
                  </a:cubicBezTo>
                  <a:cubicBezTo>
                    <a:pt x="1454551" y="1268707"/>
                    <a:pt x="1439405" y="1274980"/>
                    <a:pt x="1423611" y="1274980"/>
                  </a:cubicBezTo>
                  <a:lnTo>
                    <a:pt x="59549" y="1274980"/>
                  </a:lnTo>
                  <a:cubicBezTo>
                    <a:pt x="26661" y="1274980"/>
                    <a:pt x="0" y="1248320"/>
                    <a:pt x="0" y="1215432"/>
                  </a:cubicBezTo>
                  <a:lnTo>
                    <a:pt x="0" y="59549"/>
                  </a:lnTo>
                  <a:cubicBezTo>
                    <a:pt x="0" y="26661"/>
                    <a:pt x="26661" y="0"/>
                    <a:pt x="59549" y="0"/>
                  </a:cubicBezTo>
                  <a:close/>
                </a:path>
              </a:pathLst>
            </a:custGeom>
            <a:blipFill>
              <a:blip r:embed="rId2"/>
              <a:stretch>
                <a:fillRect l="-30473" t="-71608" b="-56057"/>
              </a:stretch>
            </a:blipFill>
            <a:ln w="952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9" name="Freeform 8">
            <a:extLst>
              <a:ext uri="{FF2B5EF4-FFF2-40B4-BE49-F238E27FC236}">
                <a16:creationId xmlns:a16="http://schemas.microsoft.com/office/drawing/2014/main" id="{8FA862FC-3D1D-B530-BADC-678E9C00EE00}"/>
              </a:ext>
            </a:extLst>
          </p:cNvPr>
          <p:cNvSpPr/>
          <p:nvPr/>
        </p:nvSpPr>
        <p:spPr>
          <a:xfrm>
            <a:off x="4273236" y="183464"/>
            <a:ext cx="6844419" cy="1600070"/>
          </a:xfrm>
          <a:custGeom>
            <a:avLst/>
            <a:gdLst/>
            <a:ahLst/>
            <a:cxnLst/>
            <a:rect l="l" t="t" r="r" b="b"/>
            <a:pathLst>
              <a:path w="2514545" h="786059">
                <a:moveTo>
                  <a:pt x="56036" y="0"/>
                </a:moveTo>
                <a:lnTo>
                  <a:pt x="2458508" y="0"/>
                </a:lnTo>
                <a:cubicBezTo>
                  <a:pt x="2473370" y="0"/>
                  <a:pt x="2487623" y="5904"/>
                  <a:pt x="2498132" y="16413"/>
                </a:cubicBezTo>
                <a:cubicBezTo>
                  <a:pt x="2508641" y="26921"/>
                  <a:pt x="2514545" y="41174"/>
                  <a:pt x="2514545" y="56036"/>
                </a:cubicBezTo>
                <a:lnTo>
                  <a:pt x="2514545" y="730022"/>
                </a:lnTo>
                <a:cubicBezTo>
                  <a:pt x="2514545" y="760970"/>
                  <a:pt x="2489456" y="786059"/>
                  <a:pt x="2458508" y="786059"/>
                </a:cubicBezTo>
                <a:lnTo>
                  <a:pt x="56036" y="786059"/>
                </a:lnTo>
                <a:cubicBezTo>
                  <a:pt x="25088" y="786059"/>
                  <a:pt x="0" y="760970"/>
                  <a:pt x="0" y="730022"/>
                </a:cubicBezTo>
                <a:lnTo>
                  <a:pt x="0" y="56036"/>
                </a:lnTo>
                <a:cubicBezTo>
                  <a:pt x="0" y="25088"/>
                  <a:pt x="25088" y="0"/>
                  <a:pt x="56036" y="0"/>
                </a:cubicBezTo>
                <a:close/>
              </a:path>
            </a:pathLst>
          </a:custGeom>
          <a:blipFill>
            <a:blip r:embed="rId3"/>
            <a:stretch>
              <a:fillRect l="-6797" t="-49383" b="-78374"/>
            </a:stretch>
          </a:blipFill>
          <a:ln w="9525" cap="rnd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31011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54AE9-3553-5BFE-23B6-663DA6E87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57355180-34DA-4E83-3CD7-0484C1EC371E}"/>
              </a:ext>
            </a:extLst>
          </p:cNvPr>
          <p:cNvSpPr txBox="1">
            <a:spLocks/>
          </p:cNvSpPr>
          <p:nvPr/>
        </p:nvSpPr>
        <p:spPr>
          <a:xfrm>
            <a:off x="162962" y="370935"/>
            <a:ext cx="11959628" cy="6011757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2000" b="1" spc="-126" dirty="0">
                <a:solidFill>
                  <a:schemeClr val="tx1"/>
                </a:solidFill>
                <a:latin typeface="+mj-lt"/>
                <a:ea typeface="Poppins Bold"/>
                <a:cs typeface="Poppins Bold"/>
                <a:sym typeface="Poppins Bold"/>
              </a:rPr>
              <a:t>Sales Trend Analysis</a:t>
            </a:r>
            <a:endParaRPr lang="en-US" sz="1600" b="1" dirty="0">
              <a:solidFill>
                <a:schemeClr val="tx1"/>
              </a:solidFill>
              <a:latin typeface="+mj-lt"/>
              <a:ea typeface="Poppins Bold"/>
              <a:cs typeface="Poppins Bold"/>
              <a:sym typeface="Poppins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8AD728-FEAA-ABF4-4C2F-4B66BDA78849}"/>
              </a:ext>
            </a:extLst>
          </p:cNvPr>
          <p:cNvSpPr txBox="1"/>
          <p:nvPr/>
        </p:nvSpPr>
        <p:spPr>
          <a:xfrm>
            <a:off x="325924" y="992999"/>
            <a:ext cx="459916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This visualization shows </a:t>
            </a:r>
            <a:r>
              <a:rPr lang="en-US" sz="1600" b="1" dirty="0">
                <a:latin typeface="+mj-lt"/>
              </a:rPr>
              <a:t>sales trends </a:t>
            </a:r>
            <a:r>
              <a:rPr lang="en-US" sz="1600" dirty="0">
                <a:latin typeface="+mj-lt"/>
              </a:rPr>
              <a:t>across </a:t>
            </a:r>
            <a:r>
              <a:rPr lang="en-US" sz="1600" b="1" dirty="0">
                <a:latin typeface="+mj-lt"/>
              </a:rPr>
              <a:t>different months</a:t>
            </a:r>
            <a:r>
              <a:rPr lang="en-US" sz="1600" dirty="0">
                <a:latin typeface="+mj-lt"/>
              </a:rPr>
              <a:t>, identifying </a:t>
            </a:r>
            <a:r>
              <a:rPr lang="en-US" sz="1600" b="1" dirty="0">
                <a:latin typeface="+mj-lt"/>
              </a:rPr>
              <a:t>patterns</a:t>
            </a:r>
            <a:r>
              <a:rPr lang="en-US" sz="1600" dirty="0">
                <a:latin typeface="+mj-lt"/>
              </a:rPr>
              <a:t> in customer demand over the years.</a:t>
            </a:r>
          </a:p>
          <a:p>
            <a:endParaRPr lang="en-US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This graph is an </a:t>
            </a:r>
            <a:r>
              <a:rPr lang="en-US" sz="1600" b="1" dirty="0">
                <a:latin typeface="+mj-lt"/>
              </a:rPr>
              <a:t>average</a:t>
            </a:r>
            <a:r>
              <a:rPr lang="en-US" sz="1600" dirty="0">
                <a:latin typeface="+mj-lt"/>
              </a:rPr>
              <a:t> of all </a:t>
            </a:r>
            <a:r>
              <a:rPr lang="en-US" sz="1600" b="1" dirty="0">
                <a:latin typeface="+mj-lt"/>
              </a:rPr>
              <a:t>4 years </a:t>
            </a:r>
            <a:r>
              <a:rPr lang="en-US" sz="1600" dirty="0">
                <a:latin typeface="+mj-lt"/>
              </a:rPr>
              <a:t>of data present in the dataset.</a:t>
            </a:r>
          </a:p>
          <a:p>
            <a:endParaRPr lang="en-US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The graph indicates that </a:t>
            </a:r>
            <a:r>
              <a:rPr lang="en-US" sz="1600" b="1" dirty="0">
                <a:latin typeface="+mj-lt"/>
              </a:rPr>
              <a:t>sales peak in November</a:t>
            </a:r>
            <a:r>
              <a:rPr lang="en-US" sz="1600" dirty="0">
                <a:latin typeface="+mj-lt"/>
              </a:rPr>
              <a:t>, closely followed by </a:t>
            </a:r>
            <a:r>
              <a:rPr lang="en-US" sz="1600" b="1" dirty="0">
                <a:latin typeface="+mj-lt"/>
              </a:rPr>
              <a:t>September &amp; December</a:t>
            </a:r>
            <a:r>
              <a:rPr lang="en-US" sz="1600" dirty="0">
                <a:latin typeface="+mj-lt"/>
              </a:rPr>
              <a:t>.</a:t>
            </a:r>
          </a:p>
          <a:p>
            <a:endParaRPr lang="en-US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Overall, the </a:t>
            </a:r>
            <a:r>
              <a:rPr lang="en-US" sz="1600" b="1" dirty="0">
                <a:latin typeface="+mj-lt"/>
              </a:rPr>
              <a:t>second halves </a:t>
            </a:r>
            <a:r>
              <a:rPr lang="en-US" sz="1600" dirty="0">
                <a:latin typeface="+mj-lt"/>
              </a:rPr>
              <a:t>of all the years generate the </a:t>
            </a:r>
            <a:r>
              <a:rPr lang="en-US" sz="1600" b="1" dirty="0">
                <a:latin typeface="+mj-lt"/>
              </a:rPr>
              <a:t>majority</a:t>
            </a:r>
            <a:r>
              <a:rPr lang="en-US" sz="1600" dirty="0">
                <a:latin typeface="+mj-lt"/>
              </a:rPr>
              <a:t> of sales.</a:t>
            </a:r>
          </a:p>
          <a:p>
            <a:endParaRPr lang="en-US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Businesses can use these insights to plan </a:t>
            </a:r>
            <a:r>
              <a:rPr lang="en-US" sz="1600" b="1" dirty="0">
                <a:latin typeface="+mj-lt"/>
              </a:rPr>
              <a:t>inventory, promotions</a:t>
            </a:r>
            <a:r>
              <a:rPr lang="en-US" sz="1600" dirty="0">
                <a:latin typeface="+mj-lt"/>
              </a:rPr>
              <a:t>, and </a:t>
            </a:r>
            <a:r>
              <a:rPr lang="en-US" sz="1600" b="1" dirty="0">
                <a:latin typeface="+mj-lt"/>
              </a:rPr>
              <a:t>marketing strategies</a:t>
            </a:r>
            <a:r>
              <a:rPr lang="en-US" sz="1600" dirty="0">
                <a:latin typeface="+mj-lt"/>
              </a:rPr>
              <a:t> more effectively during high-demand periods.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3127E2C-1E5C-36E9-E606-CAC167D51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862" y="1082020"/>
            <a:ext cx="6598677" cy="4497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8709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4B5E8-4B25-142E-5EB3-8A9B65093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60E0279A-33A1-A834-34FD-135C0629E2B2}"/>
              </a:ext>
            </a:extLst>
          </p:cNvPr>
          <p:cNvSpPr txBox="1">
            <a:spLocks/>
          </p:cNvSpPr>
          <p:nvPr/>
        </p:nvSpPr>
        <p:spPr>
          <a:xfrm>
            <a:off x="232372" y="108385"/>
            <a:ext cx="11959628" cy="6011757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2000" b="1" spc="-126" dirty="0">
                <a:solidFill>
                  <a:schemeClr val="tx1"/>
                </a:solidFill>
                <a:latin typeface="+mj-lt"/>
                <a:ea typeface="Poppins Bold"/>
                <a:cs typeface="Poppins Bold"/>
                <a:sym typeface="Poppins Bold"/>
              </a:rPr>
              <a:t>Sales Trend Analysis of Each Separate Year</a:t>
            </a:r>
            <a:endParaRPr lang="en-US" sz="1600" b="1" dirty="0">
              <a:solidFill>
                <a:schemeClr val="tx1"/>
              </a:solidFill>
              <a:latin typeface="+mj-lt"/>
              <a:ea typeface="Poppins Bold"/>
              <a:cs typeface="Poppins Bold"/>
              <a:sym typeface="Poppins Bold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C09C2871-4E26-9074-2B71-14BCBE1344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14" y="556410"/>
            <a:ext cx="5558450" cy="306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9CEE3EEC-6738-3F13-791B-2F4EFF90B8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3890" y="547357"/>
            <a:ext cx="5268743" cy="29051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35DDA5F7-4CD2-F1CB-5179-D8F159BB1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1" y="3562161"/>
            <a:ext cx="5773801" cy="314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E14AE6AB-82CC-EF36-BD84-85C59E0728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9024" y="3598376"/>
            <a:ext cx="5656105" cy="307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1673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11C85-72C3-C4A2-6D9A-C5A039B6D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A85DE3D3-ED1C-907D-1507-1EED1F2A01D7}"/>
              </a:ext>
            </a:extLst>
          </p:cNvPr>
          <p:cNvSpPr txBox="1">
            <a:spLocks/>
          </p:cNvSpPr>
          <p:nvPr/>
        </p:nvSpPr>
        <p:spPr>
          <a:xfrm>
            <a:off x="162962" y="362309"/>
            <a:ext cx="11950575" cy="5911742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2000" b="1" spc="-126" dirty="0">
                <a:solidFill>
                  <a:schemeClr val="tx1"/>
                </a:solidFill>
                <a:latin typeface="+mj-lt"/>
                <a:ea typeface="Poppins Bold"/>
                <a:cs typeface="Poppins Bold"/>
                <a:sym typeface="Poppins Bold"/>
              </a:rPr>
              <a:t>Profit by Category and Region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69FC9A-58D9-F056-699E-8F900ADD8359}"/>
              </a:ext>
            </a:extLst>
          </p:cNvPr>
          <p:cNvSpPr txBox="1"/>
          <p:nvPr/>
        </p:nvSpPr>
        <p:spPr>
          <a:xfrm>
            <a:off x="233683" y="818229"/>
            <a:ext cx="470780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The </a:t>
            </a:r>
            <a:r>
              <a:rPr lang="en-US" sz="1600" b="1" dirty="0">
                <a:latin typeface="+mj-lt"/>
              </a:rPr>
              <a:t>West region </a:t>
            </a:r>
            <a:r>
              <a:rPr lang="en-US" sz="1600" dirty="0">
                <a:latin typeface="+mj-lt"/>
              </a:rPr>
              <a:t>generated the </a:t>
            </a:r>
            <a:r>
              <a:rPr lang="en-US" sz="1600" b="1" dirty="0">
                <a:latin typeface="+mj-lt"/>
              </a:rPr>
              <a:t>highest profit </a:t>
            </a:r>
            <a:r>
              <a:rPr lang="en-US" sz="1600" dirty="0">
                <a:latin typeface="+mj-lt"/>
              </a:rPr>
              <a:t>in</a:t>
            </a:r>
            <a:r>
              <a:rPr lang="en-US" sz="1600" b="1" dirty="0">
                <a:latin typeface="+mj-lt"/>
              </a:rPr>
              <a:t> Office Supplies</a:t>
            </a:r>
            <a:r>
              <a:rPr lang="en-US" sz="1600" dirty="0">
                <a:latin typeface="+mj-lt"/>
              </a:rPr>
              <a:t>, exceeding </a:t>
            </a:r>
            <a:r>
              <a:rPr lang="en-US" sz="1600" b="1" dirty="0">
                <a:latin typeface="+mj-lt"/>
              </a:rPr>
              <a:t>$50,000.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b="1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The </a:t>
            </a:r>
            <a:r>
              <a:rPr lang="en-US" sz="1600" b="1" dirty="0">
                <a:latin typeface="+mj-lt"/>
              </a:rPr>
              <a:t>East region </a:t>
            </a:r>
            <a:r>
              <a:rPr lang="en-US" sz="1600" dirty="0">
                <a:latin typeface="+mj-lt"/>
              </a:rPr>
              <a:t>followed with around </a:t>
            </a:r>
            <a:r>
              <a:rPr lang="en-US" sz="1600" b="1" dirty="0">
                <a:latin typeface="+mj-lt"/>
              </a:rPr>
              <a:t>$40,000</a:t>
            </a:r>
            <a:r>
              <a:rPr lang="en-US" sz="1600" dirty="0">
                <a:latin typeface="+mj-lt"/>
              </a:rPr>
              <a:t>.</a:t>
            </a:r>
          </a:p>
          <a:p>
            <a:endParaRPr lang="en-US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In the </a:t>
            </a:r>
            <a:r>
              <a:rPr lang="en-US" sz="1600" b="1" dirty="0">
                <a:latin typeface="+mj-lt"/>
              </a:rPr>
              <a:t>Technology category</a:t>
            </a:r>
            <a:r>
              <a:rPr lang="en-US" sz="1600" dirty="0">
                <a:latin typeface="+mj-lt"/>
              </a:rPr>
              <a:t>, the </a:t>
            </a:r>
            <a:r>
              <a:rPr lang="en-US" sz="1600" b="1" dirty="0">
                <a:latin typeface="+mj-lt"/>
              </a:rPr>
              <a:t>East </a:t>
            </a:r>
            <a:r>
              <a:rPr lang="en-US" sz="1600" dirty="0">
                <a:latin typeface="+mj-lt"/>
              </a:rPr>
              <a:t>region achieved  </a:t>
            </a:r>
            <a:r>
              <a:rPr lang="en-US" sz="1600" b="1" dirty="0">
                <a:latin typeface="+mj-lt"/>
              </a:rPr>
              <a:t>~$50,000.</a:t>
            </a:r>
          </a:p>
          <a:p>
            <a:endParaRPr lang="en-US" sz="1600" b="1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The </a:t>
            </a:r>
            <a:r>
              <a:rPr lang="en-US" sz="1600" b="1" dirty="0">
                <a:latin typeface="+mj-lt"/>
              </a:rPr>
              <a:t>West region </a:t>
            </a:r>
            <a:r>
              <a:rPr lang="en-US" sz="1600" dirty="0">
                <a:latin typeface="+mj-lt"/>
              </a:rPr>
              <a:t>was </a:t>
            </a:r>
            <a:r>
              <a:rPr lang="en-US" sz="1600" b="1" dirty="0">
                <a:latin typeface="+mj-lt"/>
              </a:rPr>
              <a:t>close behind </a:t>
            </a:r>
            <a:r>
              <a:rPr lang="en-US" sz="1600" dirty="0">
                <a:latin typeface="+mj-lt"/>
              </a:rPr>
              <a:t>at </a:t>
            </a:r>
            <a:r>
              <a:rPr lang="en-US" sz="1600" b="1" dirty="0"/>
              <a:t>~</a:t>
            </a:r>
            <a:r>
              <a:rPr lang="en-US" sz="1600" b="1" dirty="0">
                <a:latin typeface="+mj-lt"/>
              </a:rPr>
              <a:t>$45,000</a:t>
            </a:r>
            <a:r>
              <a:rPr lang="en-US" sz="1600" dirty="0">
                <a:latin typeface="+mj-lt"/>
              </a:rPr>
              <a:t>.</a:t>
            </a:r>
          </a:p>
          <a:p>
            <a:endParaRPr lang="en-US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The </a:t>
            </a:r>
            <a:r>
              <a:rPr lang="en-US" sz="1600" b="1" dirty="0">
                <a:latin typeface="+mj-lt"/>
              </a:rPr>
              <a:t>Furniture category </a:t>
            </a:r>
            <a:r>
              <a:rPr lang="en-US" sz="1600" dirty="0">
                <a:latin typeface="+mj-lt"/>
              </a:rPr>
              <a:t>shows</a:t>
            </a:r>
            <a:r>
              <a:rPr lang="en-US" sz="1600" b="1" dirty="0">
                <a:latin typeface="+mj-lt"/>
              </a:rPr>
              <a:t> low profitability </a:t>
            </a:r>
            <a:r>
              <a:rPr lang="en-US" sz="1600" dirty="0">
                <a:latin typeface="+mj-lt"/>
              </a:rPr>
              <a:t>across</a:t>
            </a:r>
            <a:r>
              <a:rPr lang="en-US" sz="1600" b="1" dirty="0">
                <a:latin typeface="+mj-lt"/>
              </a:rPr>
              <a:t> all regions</a:t>
            </a:r>
            <a:r>
              <a:rPr lang="en-US" sz="1600" dirty="0">
                <a:latin typeface="+mj-lt"/>
              </a:rPr>
              <a:t>, with profits </a:t>
            </a:r>
            <a:r>
              <a:rPr lang="en-US" sz="1600" b="1" dirty="0">
                <a:latin typeface="+mj-lt"/>
              </a:rPr>
              <a:t>below $10,000</a:t>
            </a:r>
            <a:r>
              <a:rPr lang="en-US" sz="1600" dirty="0">
                <a:latin typeface="+mj-lt"/>
              </a:rPr>
              <a:t>.</a:t>
            </a:r>
          </a:p>
          <a:p>
            <a:endParaRPr lang="en-US" sz="1600" dirty="0">
              <a:latin typeface="+mj-lt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The </a:t>
            </a:r>
            <a:r>
              <a:rPr lang="en-US" sz="1600" b="1" dirty="0">
                <a:latin typeface="+mj-lt"/>
              </a:rPr>
              <a:t>Central region experienced losses in Furniture</a:t>
            </a:r>
            <a:r>
              <a:rPr lang="en-US" sz="1600" dirty="0">
                <a:latin typeface="+mj-lt"/>
              </a:rPr>
              <a:t>, indicating potential pricing or demand issues.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7CBA071-8082-6683-B6B2-AFDD36139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2551" y="1003276"/>
            <a:ext cx="7237348" cy="4560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6950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F4C0E-E6EF-0E45-987E-16BC0E5AC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48CEFDC1-D890-BF09-9FE7-EFE56E6A96E9}"/>
              </a:ext>
            </a:extLst>
          </p:cNvPr>
          <p:cNvSpPr txBox="1">
            <a:spLocks/>
          </p:cNvSpPr>
          <p:nvPr/>
        </p:nvSpPr>
        <p:spPr>
          <a:xfrm>
            <a:off x="162962" y="276045"/>
            <a:ext cx="11950575" cy="5998006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2000" b="1" spc="-126" dirty="0">
                <a:solidFill>
                  <a:schemeClr val="tx1"/>
                </a:solidFill>
                <a:latin typeface="+mj-lt"/>
                <a:ea typeface="Poppins Bold"/>
                <a:cs typeface="Poppins Bold"/>
                <a:sym typeface="Poppins Bold"/>
              </a:rPr>
              <a:t>Sales Overview Dashboard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BB03D53-0D78-E525-2244-FAE08C52D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6" y="1975450"/>
            <a:ext cx="11964837" cy="4339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7ED0A6-7682-2DB5-CBA6-2C74871525FB}"/>
              </a:ext>
            </a:extLst>
          </p:cNvPr>
          <p:cNvSpPr txBox="1"/>
          <p:nvPr/>
        </p:nvSpPr>
        <p:spPr>
          <a:xfrm>
            <a:off x="250165" y="801148"/>
            <a:ext cx="11654287" cy="1158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A dashboard created to provide a combined view of </a:t>
            </a:r>
            <a:r>
              <a:rPr lang="en-US" sz="1600" b="1" dirty="0">
                <a:latin typeface="+mj-lt"/>
              </a:rPr>
              <a:t>sales performance </a:t>
            </a:r>
            <a:r>
              <a:rPr lang="en-US" sz="1600" dirty="0">
                <a:latin typeface="+mj-lt"/>
              </a:rPr>
              <a:t>and </a:t>
            </a:r>
            <a:r>
              <a:rPr lang="en-US" sz="1600" b="1" dirty="0">
                <a:latin typeface="+mj-lt"/>
              </a:rPr>
              <a:t>profitability</a:t>
            </a:r>
            <a:r>
              <a:rPr lang="en-US" sz="1600" dirty="0">
                <a:latin typeface="+mj-lt"/>
              </a:rPr>
              <a:t> across regions.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The </a:t>
            </a:r>
            <a:r>
              <a:rPr lang="en-US" sz="1600" b="1" dirty="0">
                <a:latin typeface="+mj-lt"/>
              </a:rPr>
              <a:t>monthly sales </a:t>
            </a:r>
            <a:r>
              <a:rPr lang="en-US" sz="1600" dirty="0">
                <a:latin typeface="+mj-lt"/>
              </a:rPr>
              <a:t>chart highlights </a:t>
            </a:r>
            <a:r>
              <a:rPr lang="en-US" sz="1600" b="1" dirty="0">
                <a:latin typeface="+mj-lt"/>
              </a:rPr>
              <a:t>seasonal demand </a:t>
            </a:r>
            <a:r>
              <a:rPr lang="en-US" sz="1600" dirty="0">
                <a:latin typeface="+mj-lt"/>
              </a:rPr>
              <a:t>patterns, while the </a:t>
            </a:r>
            <a:r>
              <a:rPr lang="en-US" sz="1600" b="1" dirty="0">
                <a:latin typeface="+mj-lt"/>
              </a:rPr>
              <a:t>category-region </a:t>
            </a:r>
            <a:r>
              <a:rPr lang="en-US" sz="1600" dirty="0">
                <a:latin typeface="+mj-lt"/>
              </a:rPr>
              <a:t>chart </a:t>
            </a:r>
            <a:r>
              <a:rPr lang="en-US" sz="1600" b="1" dirty="0">
                <a:latin typeface="+mj-lt"/>
              </a:rPr>
              <a:t>compares profitability </a:t>
            </a:r>
            <a:r>
              <a:rPr lang="en-US" sz="1600" dirty="0">
                <a:latin typeface="+mj-lt"/>
              </a:rPr>
              <a:t>across product categories in different regions.</a:t>
            </a:r>
            <a:endParaRPr lang="en-PK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44668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2CE4B-87CF-9FEF-058F-4AF2A39F8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1AFEF105-8975-D6D5-CBEA-D9C52766AE97}"/>
              </a:ext>
            </a:extLst>
          </p:cNvPr>
          <p:cNvSpPr txBox="1">
            <a:spLocks/>
          </p:cNvSpPr>
          <p:nvPr/>
        </p:nvSpPr>
        <p:spPr>
          <a:xfrm>
            <a:off x="162962" y="276045"/>
            <a:ext cx="11950575" cy="5998006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2000" b="1" spc="-126" dirty="0">
                <a:solidFill>
                  <a:schemeClr val="tx1"/>
                </a:solidFill>
                <a:latin typeface="+mj-lt"/>
                <a:ea typeface="Poppins Bold"/>
                <a:cs typeface="Poppins Bold"/>
                <a:sym typeface="Poppins Bold"/>
              </a:rPr>
              <a:t>Sales &amp; Profit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057751-F506-4035-E41C-5A6748456425}"/>
              </a:ext>
            </a:extLst>
          </p:cNvPr>
          <p:cNvSpPr txBox="1"/>
          <p:nvPr/>
        </p:nvSpPr>
        <p:spPr>
          <a:xfrm>
            <a:off x="250166" y="734358"/>
            <a:ext cx="11941834" cy="1527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An overview of the comparison of </a:t>
            </a:r>
            <a:r>
              <a:rPr lang="en-US" sz="1600" b="1" dirty="0">
                <a:latin typeface="+mj-lt"/>
              </a:rPr>
              <a:t>total sales </a:t>
            </a:r>
            <a:r>
              <a:rPr lang="en-US" sz="1600" dirty="0">
                <a:latin typeface="+mj-lt"/>
              </a:rPr>
              <a:t>among the </a:t>
            </a:r>
            <a:r>
              <a:rPr lang="en-US" sz="1600" b="1" dirty="0">
                <a:latin typeface="+mj-lt"/>
              </a:rPr>
              <a:t>4 regions </a:t>
            </a:r>
            <a:r>
              <a:rPr lang="en-US" sz="1600" dirty="0">
                <a:latin typeface="+mj-lt"/>
              </a:rPr>
              <a:t>shows that the </a:t>
            </a:r>
            <a:r>
              <a:rPr lang="en-US" sz="1600" b="1" dirty="0">
                <a:latin typeface="+mj-lt"/>
              </a:rPr>
              <a:t>West region </a:t>
            </a:r>
            <a:r>
              <a:rPr lang="en-US" sz="1600" dirty="0">
                <a:latin typeface="+mj-lt"/>
              </a:rPr>
              <a:t>has the </a:t>
            </a:r>
            <a:r>
              <a:rPr lang="en-US" sz="1600" b="1" dirty="0">
                <a:latin typeface="+mj-lt"/>
              </a:rPr>
              <a:t>highest sales($700,000)</a:t>
            </a:r>
            <a:r>
              <a:rPr lang="en-US" sz="1600" dirty="0">
                <a:latin typeface="+mj-lt"/>
              </a:rPr>
              <a:t>, closely followed by the </a:t>
            </a:r>
            <a:r>
              <a:rPr lang="en-US" sz="1600" b="1" dirty="0">
                <a:latin typeface="+mj-lt"/>
              </a:rPr>
              <a:t>East</a:t>
            </a:r>
            <a:r>
              <a:rPr lang="en-US" sz="1600" dirty="0">
                <a:latin typeface="+mj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A comparison of the </a:t>
            </a:r>
            <a:r>
              <a:rPr lang="en-US" sz="1600" b="1" dirty="0">
                <a:latin typeface="+mj-lt"/>
              </a:rPr>
              <a:t>3 product categories </a:t>
            </a:r>
            <a:r>
              <a:rPr lang="en-US" sz="1600" dirty="0">
                <a:latin typeface="+mj-lt"/>
              </a:rPr>
              <a:t>shows that </a:t>
            </a:r>
            <a:r>
              <a:rPr lang="en-US" sz="1600" b="1" dirty="0">
                <a:latin typeface="+mj-lt"/>
              </a:rPr>
              <a:t>Technology($140,000)</a:t>
            </a:r>
            <a:r>
              <a:rPr lang="en-US" sz="1600" dirty="0">
                <a:latin typeface="+mj-lt"/>
              </a:rPr>
              <a:t> and </a:t>
            </a:r>
            <a:r>
              <a:rPr lang="en-US" sz="1600" b="1" dirty="0">
                <a:latin typeface="+mj-lt"/>
              </a:rPr>
              <a:t>Office Supplies($120,000) </a:t>
            </a:r>
            <a:r>
              <a:rPr lang="en-US" sz="1600" dirty="0">
                <a:latin typeface="+mj-lt"/>
              </a:rPr>
              <a:t>categories are the most </a:t>
            </a:r>
            <a:r>
              <a:rPr lang="en-US" sz="1600" b="1" dirty="0">
                <a:latin typeface="+mj-lt"/>
              </a:rPr>
              <a:t>profitable</a:t>
            </a:r>
            <a:r>
              <a:rPr lang="en-US" sz="1600" dirty="0">
                <a:latin typeface="+mj-lt"/>
              </a:rPr>
              <a:t> ones.</a:t>
            </a:r>
            <a:endParaRPr lang="en-PK" sz="1600" dirty="0">
              <a:latin typeface="+mj-lt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633255D-FF2F-5EBD-07FA-D685AFEB4C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889" y="2350070"/>
            <a:ext cx="4683512" cy="3851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34F0C1F-57E4-D2D6-2693-A9B68DC347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3109" y="2512923"/>
            <a:ext cx="4459857" cy="351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898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75D12-9425-A03E-25BA-5775F6B6C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F33D08CA-FA27-FC4B-6A68-A0E4C9A7EDDA}"/>
              </a:ext>
            </a:extLst>
          </p:cNvPr>
          <p:cNvSpPr txBox="1">
            <a:spLocks/>
          </p:cNvSpPr>
          <p:nvPr/>
        </p:nvSpPr>
        <p:spPr>
          <a:xfrm>
            <a:off x="162962" y="217283"/>
            <a:ext cx="11950575" cy="6056768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2000" b="1" spc="-126" dirty="0">
                <a:solidFill>
                  <a:schemeClr val="tx1"/>
                </a:solidFill>
                <a:latin typeface="+mj-lt"/>
                <a:ea typeface="Poppins Bold"/>
                <a:cs typeface="Poppins Bold"/>
                <a:sym typeface="Poppins Bold"/>
              </a:rPr>
              <a:t>Top 10 Profit-Making Products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451CE2B-2D36-7595-51FE-F78BD0EAB1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59587"/>
            <a:ext cx="12192000" cy="4738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C791DEA-A84B-DA47-692B-1F33681E8C36}"/>
              </a:ext>
            </a:extLst>
          </p:cNvPr>
          <p:cNvSpPr txBox="1"/>
          <p:nvPr/>
        </p:nvSpPr>
        <p:spPr>
          <a:xfrm>
            <a:off x="267419" y="645874"/>
            <a:ext cx="11855570" cy="1527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This visualization shows that the most profitable product in this superstore is the </a:t>
            </a:r>
            <a:r>
              <a:rPr lang="en-US" sz="1600" b="1" dirty="0">
                <a:latin typeface="+mj-lt"/>
              </a:rPr>
              <a:t>Canon imageCLASS 2200 Advanced Copier</a:t>
            </a:r>
            <a:r>
              <a:rPr lang="en-US" sz="1600" dirty="0">
                <a:latin typeface="+mj-lt"/>
              </a:rPr>
              <a:t>, with almost </a:t>
            </a:r>
            <a:r>
              <a:rPr lang="en-US" sz="1600" b="1" dirty="0">
                <a:latin typeface="+mj-lt"/>
              </a:rPr>
              <a:t>$25,000 in total profits</a:t>
            </a:r>
            <a:r>
              <a:rPr lang="en-US" sz="1600" dirty="0">
                <a:latin typeface="+mj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It also shows a stark difference in the </a:t>
            </a:r>
            <a:r>
              <a:rPr lang="en-US" sz="1600" b="1" dirty="0">
                <a:latin typeface="+mj-lt"/>
              </a:rPr>
              <a:t>staggering profit </a:t>
            </a:r>
            <a:r>
              <a:rPr lang="en-US" sz="1600" dirty="0">
                <a:latin typeface="+mj-lt"/>
              </a:rPr>
              <a:t>amounts as compared to </a:t>
            </a:r>
            <a:r>
              <a:rPr lang="en-US" sz="1600" b="1" dirty="0">
                <a:latin typeface="+mj-lt"/>
              </a:rPr>
              <a:t>other products </a:t>
            </a:r>
            <a:r>
              <a:rPr lang="en-US" sz="1600" dirty="0">
                <a:latin typeface="+mj-lt"/>
              </a:rPr>
              <a:t>that barely have </a:t>
            </a:r>
            <a:r>
              <a:rPr lang="en-US" sz="1600" b="1" dirty="0">
                <a:latin typeface="+mj-lt"/>
              </a:rPr>
              <a:t>$10,000 or below </a:t>
            </a:r>
            <a:r>
              <a:rPr lang="en-US" sz="1600" dirty="0">
                <a:latin typeface="+mj-lt"/>
              </a:rPr>
              <a:t>in profits.</a:t>
            </a:r>
            <a:endParaRPr lang="en-PK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33683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6EC70-08E7-CC3E-A51B-164F7491A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784BA4D-AB97-69CC-88D1-51743C484BF1}"/>
              </a:ext>
            </a:extLst>
          </p:cNvPr>
          <p:cNvSpPr txBox="1">
            <a:spLocks/>
          </p:cNvSpPr>
          <p:nvPr/>
        </p:nvSpPr>
        <p:spPr>
          <a:xfrm>
            <a:off x="162962" y="217283"/>
            <a:ext cx="11950575" cy="6056768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2000" b="1" spc="-126" dirty="0">
                <a:solidFill>
                  <a:schemeClr val="tx1"/>
                </a:solidFill>
                <a:latin typeface="+mj-lt"/>
                <a:ea typeface="Poppins Bold"/>
                <a:cs typeface="Poppins Bold"/>
                <a:sym typeface="Poppins Bold"/>
              </a:rPr>
              <a:t>Top 10 Loss-Making Products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006E54-D9A2-10B0-F523-52346C1B0870}"/>
              </a:ext>
            </a:extLst>
          </p:cNvPr>
          <p:cNvSpPr txBox="1"/>
          <p:nvPr/>
        </p:nvSpPr>
        <p:spPr>
          <a:xfrm>
            <a:off x="155276" y="611368"/>
            <a:ext cx="11855570" cy="1527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F0302020204030204"/>
                <a:ea typeface="+mn-ea"/>
                <a:cs typeface="+mn-cs"/>
              </a:rPr>
              <a:t>This visualization shows that the most loss-making product in this superstore are the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F0302020204030204"/>
                <a:ea typeface="+mn-ea"/>
                <a:cs typeface="+mn-cs"/>
              </a:rPr>
              <a:t>Cubify CubeX 3D Printer Double Head Prints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F0302020204030204"/>
                <a:ea typeface="+mn-ea"/>
                <a:cs typeface="+mn-cs"/>
              </a:rPr>
              <a:t>, causing almost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F0302020204030204"/>
                <a:ea typeface="+mn-ea"/>
                <a:cs typeface="+mn-cs"/>
              </a:rPr>
              <a:t>$9000 in total loss 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F0302020204030204"/>
                <a:ea typeface="+mn-ea"/>
                <a:cs typeface="+mn-cs"/>
              </a:rPr>
              <a:t>for the company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F0302020204030204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F0302020204030204"/>
                <a:ea typeface="+mn-ea"/>
                <a:cs typeface="+mn-cs"/>
              </a:rPr>
              <a:t>It also shows a stark difference in the staggering loss amounts as compared to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F0302020204030204"/>
                <a:ea typeface="+mn-ea"/>
                <a:cs typeface="+mn-cs"/>
              </a:rPr>
              <a:t>other products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F0302020204030204"/>
                <a:ea typeface="+mn-ea"/>
                <a:cs typeface="+mn-cs"/>
              </a:rPr>
              <a:t>that cause losses mainly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F0302020204030204"/>
                <a:ea typeface="+mn-ea"/>
                <a:cs typeface="+mn-cs"/>
              </a:rPr>
              <a:t>below $6000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F0302020204030204"/>
                <a:ea typeface="+mn-ea"/>
                <a:cs typeface="+mn-cs"/>
              </a:rPr>
              <a:t>. Most of them lie in the categories of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F0302020204030204"/>
                <a:ea typeface="+mn-ea"/>
                <a:cs typeface="+mn-cs"/>
              </a:rPr>
              <a:t>tables or printers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okman Old Style" panose="020F0302020204030204"/>
                <a:ea typeface="+mn-ea"/>
                <a:cs typeface="+mn-cs"/>
              </a:rPr>
              <a:t>.</a:t>
            </a:r>
            <a:endParaRPr kumimoji="0" lang="en-PK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okman Old Style" panose="020F0302020204030204"/>
              <a:ea typeface="+mn-ea"/>
              <a:cs typeface="+mn-cs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1BB2D57-F081-1E85-C79F-64D91FCC08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035" y="2165230"/>
            <a:ext cx="11830004" cy="4563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749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D66E5-A450-68F4-333B-B2F1E0308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57FDC33E-5FD6-96D2-AD53-37E0CD2D9524}"/>
              </a:ext>
            </a:extLst>
          </p:cNvPr>
          <p:cNvSpPr txBox="1">
            <a:spLocks/>
          </p:cNvSpPr>
          <p:nvPr/>
        </p:nvSpPr>
        <p:spPr>
          <a:xfrm>
            <a:off x="162962" y="217283"/>
            <a:ext cx="11950575" cy="6056768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2000" b="1" spc="-126" dirty="0">
                <a:solidFill>
                  <a:schemeClr val="tx1"/>
                </a:solidFill>
                <a:latin typeface="+mj-lt"/>
                <a:ea typeface="Poppins Bold"/>
                <a:cs typeface="Poppins Bold"/>
                <a:sym typeface="Poppins Bold"/>
              </a:rPr>
              <a:t>Product Profitability Dashboard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7A31E8-2732-5E1A-8754-7D2811584543}"/>
              </a:ext>
            </a:extLst>
          </p:cNvPr>
          <p:cNvSpPr txBox="1"/>
          <p:nvPr/>
        </p:nvSpPr>
        <p:spPr>
          <a:xfrm>
            <a:off x="250165" y="568236"/>
            <a:ext cx="11855570" cy="15274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This dashboard highlights the </a:t>
            </a:r>
            <a:r>
              <a:rPr lang="en-US" sz="1600" b="1" dirty="0">
                <a:latin typeface="+mj-lt"/>
              </a:rPr>
              <a:t>products contributing </a:t>
            </a:r>
            <a:r>
              <a:rPr lang="en-US" sz="1600" dirty="0">
                <a:latin typeface="+mj-lt"/>
              </a:rPr>
              <a:t>the most to </a:t>
            </a:r>
            <a:r>
              <a:rPr lang="en-US" sz="1600" b="1" dirty="0">
                <a:latin typeface="+mj-lt"/>
              </a:rPr>
              <a:t>profits</a:t>
            </a:r>
            <a:r>
              <a:rPr lang="en-US" sz="1600" dirty="0">
                <a:latin typeface="+mj-lt"/>
              </a:rPr>
              <a:t> as well as those </a:t>
            </a:r>
            <a:r>
              <a:rPr lang="en-US" sz="1600" b="1" dirty="0">
                <a:latin typeface="+mj-lt"/>
              </a:rPr>
              <a:t>generating</a:t>
            </a:r>
            <a:r>
              <a:rPr lang="en-US" sz="1600" dirty="0">
                <a:latin typeface="+mj-lt"/>
              </a:rPr>
              <a:t> the </a:t>
            </a:r>
            <a:r>
              <a:rPr lang="en-US" sz="1600" b="1" dirty="0">
                <a:latin typeface="+mj-lt"/>
              </a:rPr>
              <a:t>highest losses</a:t>
            </a:r>
            <a:r>
              <a:rPr lang="en-US" sz="1600" dirty="0">
                <a:latin typeface="+mj-lt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Identifying these products helps businesses </a:t>
            </a:r>
            <a:r>
              <a:rPr lang="en-US" sz="1600" b="1" dirty="0">
                <a:latin typeface="+mj-lt"/>
              </a:rPr>
              <a:t>focus on profitable items</a:t>
            </a:r>
            <a:r>
              <a:rPr lang="en-US" sz="1600" dirty="0">
                <a:latin typeface="+mj-lt"/>
              </a:rPr>
              <a:t> while reviewing pricing or </a:t>
            </a:r>
            <a:r>
              <a:rPr lang="en-US" sz="1600" b="1" dirty="0">
                <a:latin typeface="+mj-lt"/>
              </a:rPr>
              <a:t>discount strategies</a:t>
            </a:r>
            <a:r>
              <a:rPr lang="en-US" sz="1600" dirty="0">
                <a:latin typeface="+mj-lt"/>
              </a:rPr>
              <a:t> for loss-generating products.</a:t>
            </a:r>
            <a:endParaRPr lang="en-PK" sz="1600" dirty="0">
              <a:latin typeface="+mj-lt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71A7D8E-AB4A-CC21-2231-FEBD50580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11" y="2087593"/>
            <a:ext cx="12033849" cy="4675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259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0AD0D-02BD-9E1E-9F3F-C826446A7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2201507A-6658-EDA8-9B93-0C96892F3115}"/>
              </a:ext>
            </a:extLst>
          </p:cNvPr>
          <p:cNvSpPr txBox="1">
            <a:spLocks/>
          </p:cNvSpPr>
          <p:nvPr/>
        </p:nvSpPr>
        <p:spPr>
          <a:xfrm>
            <a:off x="162962" y="362309"/>
            <a:ext cx="11950575" cy="5911742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2000" b="1" spc="-126" dirty="0">
                <a:solidFill>
                  <a:schemeClr val="tx1"/>
                </a:solidFill>
                <a:latin typeface="+mj-lt"/>
                <a:ea typeface="Poppins Bold"/>
                <a:cs typeface="Poppins Bold"/>
                <a:sym typeface="Poppins Bold"/>
              </a:rPr>
              <a:t>Predicting Monthly Profit Using Robust Linear Regression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F47771-7331-BC19-4085-6DEB2416C664}"/>
              </a:ext>
            </a:extLst>
          </p:cNvPr>
          <p:cNvSpPr txBox="1"/>
          <p:nvPr/>
        </p:nvSpPr>
        <p:spPr>
          <a:xfrm>
            <a:off x="260843" y="1080780"/>
            <a:ext cx="5216503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+mj-lt"/>
              </a:rPr>
              <a:t>Objective:</a:t>
            </a: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Predict monthly profit for each product category to support </a:t>
            </a:r>
            <a:r>
              <a:rPr lang="en-US" sz="1600" b="1" dirty="0">
                <a:latin typeface="+mj-lt"/>
              </a:rPr>
              <a:t>inventory, promotions, and business planning</a:t>
            </a:r>
            <a:r>
              <a:rPr lang="en-US" sz="1600" dirty="0">
                <a:latin typeface="+mj-lt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+mj-lt"/>
              </a:rPr>
              <a:t>Data &amp; Features:</a:t>
            </a: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Numerical:</a:t>
            </a:r>
            <a:r>
              <a:rPr lang="en-US" sz="1600" dirty="0">
                <a:latin typeface="+mj-lt"/>
              </a:rPr>
              <a:t> Sales, Quantity, Discount, Sales×Quantity, Discount×Quantity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Categorical:</a:t>
            </a:r>
            <a:r>
              <a:rPr lang="en-US" sz="1600" dirty="0">
                <a:latin typeface="+mj-lt"/>
              </a:rPr>
              <a:t> Category (Office Supplies, Technology; Furniture as base)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Target:</a:t>
            </a:r>
            <a:r>
              <a:rPr lang="en-US" sz="1600" dirty="0">
                <a:latin typeface="+mj-lt"/>
              </a:rPr>
              <a:t> Log-transformed Profit → reduces impact of extreme values</a:t>
            </a:r>
          </a:p>
          <a:p>
            <a:endParaRPr lang="en-US" sz="1600" dirty="0">
              <a:latin typeface="+mj-lt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FA93865-B0A5-DAED-FDC6-ED8905C12F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0720" y="969995"/>
            <a:ext cx="6190167" cy="4835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2343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A0B27-6A4E-7A97-BCA8-ED55EAA58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F9F9A9C-ACF7-8E9A-FCF6-FCFB33155971}"/>
              </a:ext>
            </a:extLst>
          </p:cNvPr>
          <p:cNvSpPr txBox="1">
            <a:spLocks/>
          </p:cNvSpPr>
          <p:nvPr/>
        </p:nvSpPr>
        <p:spPr>
          <a:xfrm>
            <a:off x="144855" y="181240"/>
            <a:ext cx="11950575" cy="5911742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2000" b="1" spc="-126" dirty="0">
                <a:solidFill>
                  <a:schemeClr val="tx1"/>
                </a:solidFill>
                <a:latin typeface="+mj-lt"/>
                <a:ea typeface="Poppins Bold"/>
                <a:cs typeface="Poppins Bold"/>
                <a:sym typeface="Poppins Bold"/>
              </a:rPr>
              <a:t>Predicting Monthly Profit Using Robust Linear Regression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2AD69F-867E-DD61-5B92-90B824BB4871}"/>
              </a:ext>
            </a:extLst>
          </p:cNvPr>
          <p:cNvSpPr txBox="1"/>
          <p:nvPr/>
        </p:nvSpPr>
        <p:spPr>
          <a:xfrm>
            <a:off x="233683" y="818229"/>
            <a:ext cx="5352306" cy="5590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+mj-lt"/>
              </a:rPr>
              <a:t>Why Robust Regression (RANSAC)?</a:t>
            </a: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Profit data has </a:t>
            </a:r>
            <a:r>
              <a:rPr lang="en-US" sz="1600" b="1" dirty="0">
                <a:latin typeface="+mj-lt"/>
              </a:rPr>
              <a:t>outliers</a:t>
            </a:r>
            <a:r>
              <a:rPr lang="en-US" sz="1600" dirty="0">
                <a:latin typeface="+mj-lt"/>
              </a:rPr>
              <a:t> (extreme gains/losses)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RANSAC ignores outliers → </a:t>
            </a:r>
            <a:r>
              <a:rPr lang="en-US" sz="1600" b="1" dirty="0">
                <a:latin typeface="+mj-lt"/>
              </a:rPr>
              <a:t>more stable predictions</a:t>
            </a:r>
            <a:endParaRPr lang="en-US" sz="1600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+mj-lt"/>
              </a:rPr>
              <a:t>Model Performance:</a:t>
            </a: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R² = 0.503</a:t>
            </a:r>
            <a:r>
              <a:rPr lang="en-US" sz="1600" dirty="0">
                <a:latin typeface="+mj-lt"/>
              </a:rPr>
              <a:t> → Explains ~50% of profit variability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RMSE = $4,484</a:t>
            </a:r>
            <a:r>
              <a:rPr lang="en-US" sz="1600" dirty="0">
                <a:latin typeface="+mj-lt"/>
              </a:rPr>
              <a:t> → Average deviation per month-category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Avg log-scale error = 32.2%</a:t>
            </a:r>
            <a:r>
              <a:rPr lang="en-US" sz="1600" dirty="0">
                <a:latin typeface="+mj-lt"/>
              </a:rPr>
              <a:t> → Predictions reasonably accurate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+mj-lt"/>
              </a:rPr>
              <a:t>Insights:</a:t>
            </a: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Technology</a:t>
            </a:r>
            <a:r>
              <a:rPr lang="en-US" sz="1600" dirty="0">
                <a:latin typeface="+mj-lt"/>
              </a:rPr>
              <a:t> and </a:t>
            </a:r>
            <a:r>
              <a:rPr lang="en-US" sz="1600" b="1" dirty="0">
                <a:latin typeface="+mj-lt"/>
              </a:rPr>
              <a:t>Office Supplies </a:t>
            </a:r>
            <a:r>
              <a:rPr lang="en-US" sz="1600" dirty="0">
                <a:latin typeface="+mj-lt"/>
              </a:rPr>
              <a:t>profits predicted most </a:t>
            </a:r>
            <a:r>
              <a:rPr lang="en-US" sz="1600" b="1" dirty="0">
                <a:latin typeface="+mj-lt"/>
              </a:rPr>
              <a:t>accurately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Discounts</a:t>
            </a:r>
            <a:r>
              <a:rPr lang="en-US" sz="1600" dirty="0">
                <a:latin typeface="+mj-lt"/>
              </a:rPr>
              <a:t> and </a:t>
            </a:r>
            <a:r>
              <a:rPr lang="en-US" sz="1600" b="1" dirty="0">
                <a:latin typeface="+mj-lt"/>
              </a:rPr>
              <a:t>category type </a:t>
            </a:r>
            <a:r>
              <a:rPr lang="en-US" sz="1600" dirty="0">
                <a:latin typeface="+mj-lt"/>
              </a:rPr>
              <a:t>are main </a:t>
            </a:r>
            <a:r>
              <a:rPr lang="en-US" sz="1600" b="1" dirty="0">
                <a:latin typeface="+mj-lt"/>
              </a:rPr>
              <a:t>drivers</a:t>
            </a:r>
            <a:r>
              <a:rPr lang="en-US" sz="1600" dirty="0">
                <a:latin typeface="+mj-lt"/>
              </a:rPr>
              <a:t> of </a:t>
            </a:r>
            <a:r>
              <a:rPr lang="en-US" sz="1600" b="1" dirty="0">
                <a:latin typeface="+mj-lt"/>
              </a:rPr>
              <a:t>profit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B0AA87-2C0F-184B-38C2-0B5BC5D783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35"/>
          <a:stretch>
            <a:fillRect/>
          </a:stretch>
        </p:blipFill>
        <p:spPr>
          <a:xfrm>
            <a:off x="5703683" y="912941"/>
            <a:ext cx="6210677" cy="5132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158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4AA54-1634-A648-9B1B-5B678D8B2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470150D-5ED0-60CD-BB7D-D15E7DE834BD}"/>
              </a:ext>
            </a:extLst>
          </p:cNvPr>
          <p:cNvSpPr txBox="1">
            <a:spLocks/>
          </p:cNvSpPr>
          <p:nvPr/>
        </p:nvSpPr>
        <p:spPr>
          <a:xfrm>
            <a:off x="241425" y="280828"/>
            <a:ext cx="11950575" cy="5911742"/>
          </a:xfrm>
          <a:prstGeom prst="rect">
            <a:avLst/>
          </a:prstGeom>
        </p:spPr>
        <p:txBody>
          <a:bodyPr>
            <a:no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850"/>
              </a:lnSpc>
              <a:buFont typeface="Wingdings" panose="05000000000000000000" pitchFamily="2" charset="2"/>
              <a:buChar char="Ø"/>
            </a:pPr>
            <a:r>
              <a:rPr lang="en-US" sz="2000" b="1" spc="-126" dirty="0">
                <a:solidFill>
                  <a:schemeClr val="tx1"/>
                </a:solidFill>
                <a:latin typeface="+mj-lt"/>
                <a:ea typeface="Poppins Bold"/>
                <a:cs typeface="Poppins Bold"/>
                <a:sym typeface="Poppins Bold"/>
              </a:rPr>
              <a:t>Key Drivers of Profit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6D49BB-04C7-AA49-0F27-7B6ED1E5E192}"/>
              </a:ext>
            </a:extLst>
          </p:cNvPr>
          <p:cNvSpPr txBox="1"/>
          <p:nvPr/>
        </p:nvSpPr>
        <p:spPr>
          <a:xfrm>
            <a:off x="333268" y="881604"/>
            <a:ext cx="4890581" cy="4482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+mj-lt"/>
              </a:rPr>
              <a:t>Feature Importance (RANSAC Coefficients):</a:t>
            </a: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Discount:</a:t>
            </a:r>
            <a:r>
              <a:rPr lang="en-US" sz="1600" dirty="0">
                <a:latin typeface="+mj-lt"/>
              </a:rPr>
              <a:t> Strongest positive impact → larger discounts increase profit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Category:</a:t>
            </a:r>
            <a:r>
              <a:rPr lang="en-US" sz="1600" dirty="0">
                <a:latin typeface="+mj-lt"/>
              </a:rPr>
              <a:t> Office Supplies &amp; Technology positively affect profit (Furniture as base)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Quantity, Sales, Sales×Quantity: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Minimal direct effect after controlling for category and interactions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Discount×Quantity: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+mj-lt"/>
              </a:rPr>
              <a:t>Slight negative effect → large discounts on bulk orders can reduce profit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CB4FDF4-977A-6652-FE9A-902FBF82FE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9528" y="316871"/>
            <a:ext cx="6672404" cy="3775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8E05FB-DEA9-C167-2025-2181D8259E5D}"/>
              </a:ext>
            </a:extLst>
          </p:cNvPr>
          <p:cNvSpPr txBox="1"/>
          <p:nvPr/>
        </p:nvSpPr>
        <p:spPr>
          <a:xfrm>
            <a:off x="5386812" y="4266091"/>
            <a:ext cx="6581870" cy="1897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b="1" dirty="0">
                <a:latin typeface="+mj-lt"/>
              </a:rPr>
              <a:t>Business Implications:</a:t>
            </a:r>
            <a:endParaRPr lang="en-US" sz="1600" dirty="0">
              <a:latin typeface="+mj-lt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Focus promotions on </a:t>
            </a:r>
            <a:r>
              <a:rPr lang="en-US" sz="1600" b="1" dirty="0">
                <a:latin typeface="+mj-lt"/>
              </a:rPr>
              <a:t>high-margin categories</a:t>
            </a:r>
            <a:r>
              <a:rPr lang="en-US" sz="1600" dirty="0">
                <a:latin typeface="+mj-lt"/>
              </a:rPr>
              <a:t> with strategic discounts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Prioritize Technology </a:t>
            </a:r>
            <a:r>
              <a:rPr lang="en-US" sz="1600" dirty="0">
                <a:latin typeface="+mj-lt"/>
              </a:rPr>
              <a:t>and </a:t>
            </a:r>
            <a:r>
              <a:rPr lang="en-US" sz="1600" b="1" dirty="0">
                <a:latin typeface="+mj-lt"/>
              </a:rPr>
              <a:t>Office Supplies </a:t>
            </a:r>
            <a:r>
              <a:rPr lang="en-US" sz="1600" dirty="0">
                <a:latin typeface="+mj-lt"/>
              </a:rPr>
              <a:t>for profitability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+mj-lt"/>
              </a:rPr>
              <a:t>Avoid</a:t>
            </a:r>
            <a:r>
              <a:rPr lang="en-US" sz="1600" dirty="0">
                <a:latin typeface="+mj-lt"/>
              </a:rPr>
              <a:t> excessive </a:t>
            </a:r>
            <a:r>
              <a:rPr lang="en-US" sz="1600" b="1" dirty="0">
                <a:latin typeface="+mj-lt"/>
              </a:rPr>
              <a:t>discounts</a:t>
            </a:r>
            <a:r>
              <a:rPr lang="en-US" sz="1600" dirty="0">
                <a:latin typeface="+mj-lt"/>
              </a:rPr>
              <a:t> on bulk orders that may hurt profit</a:t>
            </a:r>
          </a:p>
        </p:txBody>
      </p:sp>
    </p:spTree>
    <p:extLst>
      <p:ext uri="{BB962C8B-B14F-4D97-AF65-F5344CB8AC3E}">
        <p14:creationId xmlns:p14="http://schemas.microsoft.com/office/powerpoint/2010/main" val="2923203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4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A693BE-1B41-35D1-353A-792750884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BFF916F-CFE2-B768-AD31-679003FD9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FF4823C-4E84-33DE-4B0B-0DEFAF821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F87FF-622E-8A54-C170-33941ABCDB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42377" y="2002207"/>
            <a:ext cx="6391746" cy="1460232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9600" b="1" dirty="0">
                <a:solidFill>
                  <a:schemeClr val="tx2">
                    <a:lumMod val="50000"/>
                  </a:schemeClr>
                </a:solidFill>
                <a:latin typeface="+mj-lt"/>
              </a:rPr>
              <a:t>THANK you</a:t>
            </a:r>
            <a:endParaRPr lang="en-US" sz="9600" dirty="0">
              <a:solidFill>
                <a:schemeClr val="tx2">
                  <a:lumMod val="50000"/>
                </a:schemeClr>
              </a:solidFill>
              <a:latin typeface="+mj-lt"/>
            </a:endParaRPr>
          </a:p>
          <a:p>
            <a:pPr algn="just"/>
            <a:endParaRPr lang="en-US" sz="3300" dirty="0">
              <a:solidFill>
                <a:schemeClr val="tx2">
                  <a:lumMod val="50000"/>
                </a:schemeClr>
              </a:solidFill>
              <a:latin typeface="+mj-lt"/>
            </a:endParaRPr>
          </a:p>
          <a:p>
            <a:pPr algn="just"/>
            <a:endParaRPr lang="en-US" sz="3300" dirty="0">
              <a:solidFill>
                <a:schemeClr val="tx2">
                  <a:lumMod val="50000"/>
                </a:schemeClr>
              </a:solidFill>
              <a:latin typeface="+mj-lt"/>
            </a:endParaRPr>
          </a:p>
          <a:p>
            <a:pPr algn="just"/>
            <a:endParaRPr lang="en-US" sz="3300" dirty="0">
              <a:solidFill>
                <a:schemeClr val="tx2">
                  <a:lumMod val="50000"/>
                </a:schemeClr>
              </a:solidFill>
              <a:latin typeface="+mj-lt"/>
            </a:endParaRPr>
          </a:p>
          <a:p>
            <a:pPr algn="just"/>
            <a:endParaRPr lang="en-US" dirty="0">
              <a:solidFill>
                <a:schemeClr val="tx2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4878417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{0342F7B7-4931-4EA8-A22B-414899FB2269}TFf0a5ceae-4542-492d-822e-d65a94fb0e1e3b562c5a_win32-009a0557e699</Template>
  <TotalTime>733</TotalTime>
  <Words>898</Words>
  <Application>Microsoft Office PowerPoint</Application>
  <PresentationFormat>Widescreen</PresentationFormat>
  <Paragraphs>133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Bookman Old Style</vt:lpstr>
      <vt:lpstr>Calibri</vt:lpstr>
      <vt:lpstr>Franklin Gothic Book</vt:lpstr>
      <vt:lpstr>Poppins</vt:lpstr>
      <vt:lpstr>Times New Roman</vt:lpstr>
      <vt:lpstr>Wingdings</vt:lpstr>
      <vt:lpstr>Custom</vt:lpstr>
      <vt:lpstr>      Retail Sales Performance Analysis Using Python</vt:lpstr>
      <vt:lpstr>PowerPoint Presentation</vt:lpstr>
      <vt:lpstr> Introduction: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EthanHunt</dc:creator>
  <cp:lastModifiedBy>Sarah Zafar</cp:lastModifiedBy>
  <cp:revision>61</cp:revision>
  <dcterms:created xsi:type="dcterms:W3CDTF">2025-11-08T11:05:30Z</dcterms:created>
  <dcterms:modified xsi:type="dcterms:W3CDTF">2026-03-20T16:25:36Z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